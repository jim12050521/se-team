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68" r:id="rId4"/>
    <p:sldId id="264" r:id="rId5"/>
    <p:sldId id="263" r:id="rId6"/>
    <p:sldId id="258" r:id="rId7"/>
    <p:sldId id="259" r:id="rId8"/>
    <p:sldId id="265" r:id="rId9"/>
    <p:sldId id="266" r:id="rId10"/>
    <p:sldId id="267" r:id="rId11"/>
    <p:sldId id="260" r:id="rId12"/>
    <p:sldId id="261"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2703" autoAdjust="0"/>
  </p:normalViewPr>
  <p:slideViewPr>
    <p:cSldViewPr snapToGrid="0">
      <p:cViewPr varScale="1">
        <p:scale>
          <a:sx n="67" d="100"/>
          <a:sy n="67" d="100"/>
        </p:scale>
        <p:origin x="64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E329C2-9666-469F-811B-D3BD5B76E48A}" type="datetimeFigureOut">
              <a:rPr lang="zh-TW" altLang="en-US" smtClean="0"/>
              <a:t>2023/11/20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DE778-544A-4D91-967F-39ED80C2C05E}" type="slidenum">
              <a:rPr lang="zh-TW" altLang="en-US" smtClean="0"/>
              <a:t>‹#›</a:t>
            </a:fld>
            <a:endParaRPr lang="zh-TW" altLang="en-US"/>
          </a:p>
        </p:txBody>
      </p:sp>
    </p:spTree>
    <p:extLst>
      <p:ext uri="{BB962C8B-B14F-4D97-AF65-F5344CB8AC3E}">
        <p14:creationId xmlns:p14="http://schemas.microsoft.com/office/powerpoint/2010/main" val="2171869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kern="1200" dirty="0">
                <a:solidFill>
                  <a:schemeClr val="tx1"/>
                </a:solidFill>
                <a:effectLst/>
                <a:latin typeface="+mn-lt"/>
                <a:ea typeface="+mn-ea"/>
                <a:cs typeface="+mn-cs"/>
              </a:rPr>
              <a:t>MVC </a:t>
            </a:r>
            <a:r>
              <a:rPr lang="zh-TW" altLang="en-US" sz="1200" b="0" i="0" kern="1200" dirty="0">
                <a:solidFill>
                  <a:schemeClr val="tx1"/>
                </a:solidFill>
                <a:effectLst/>
                <a:latin typeface="+mn-lt"/>
                <a:ea typeface="+mn-ea"/>
                <a:cs typeface="+mn-cs"/>
              </a:rPr>
              <a:t>架構：</a:t>
            </a:r>
          </a:p>
          <a:p>
            <a:endParaRPr lang="zh-TW" altLang="en-US" dirty="0"/>
          </a:p>
        </p:txBody>
      </p:sp>
      <p:sp>
        <p:nvSpPr>
          <p:cNvPr id="4" name="投影片編號版面配置區 3"/>
          <p:cNvSpPr>
            <a:spLocks noGrp="1"/>
          </p:cNvSpPr>
          <p:nvPr>
            <p:ph type="sldNum" sz="quarter" idx="5"/>
          </p:nvPr>
        </p:nvSpPr>
        <p:spPr/>
        <p:txBody>
          <a:bodyPr/>
          <a:lstStyle/>
          <a:p>
            <a:fld id="{222DE778-544A-4D91-967F-39ED80C2C05E}" type="slidenum">
              <a:rPr lang="zh-TW" altLang="en-US" smtClean="0"/>
              <a:t>1</a:t>
            </a:fld>
            <a:endParaRPr lang="zh-TW" altLang="en-US"/>
          </a:p>
        </p:txBody>
      </p:sp>
    </p:spTree>
    <p:extLst>
      <p:ext uri="{BB962C8B-B14F-4D97-AF65-F5344CB8AC3E}">
        <p14:creationId xmlns:p14="http://schemas.microsoft.com/office/powerpoint/2010/main" val="13200496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31E39DC-3CF9-4E31-B633-41F74C7AF99B}"/>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94DF4075-82C3-483B-95C8-E9CAFA1324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601D94E8-FB50-45B5-8DA6-D20EE8FE8437}"/>
              </a:ext>
            </a:extLst>
          </p:cNvPr>
          <p:cNvSpPr>
            <a:spLocks noGrp="1"/>
          </p:cNvSpPr>
          <p:nvPr>
            <p:ph type="dt" sz="half" idx="10"/>
          </p:nvPr>
        </p:nvSpPr>
        <p:spPr/>
        <p:txBody>
          <a:bodyPr/>
          <a:lstStyle/>
          <a:p>
            <a:fld id="{2B7C482B-BE44-4B05-9688-0B5CC8BE7B2C}" type="datetimeFigureOut">
              <a:rPr lang="zh-TW" altLang="en-US" smtClean="0"/>
              <a:t>2023/11/20</a:t>
            </a:fld>
            <a:endParaRPr lang="zh-TW" altLang="en-US"/>
          </a:p>
        </p:txBody>
      </p:sp>
      <p:sp>
        <p:nvSpPr>
          <p:cNvPr id="5" name="頁尾版面配置區 4">
            <a:extLst>
              <a:ext uri="{FF2B5EF4-FFF2-40B4-BE49-F238E27FC236}">
                <a16:creationId xmlns:a16="http://schemas.microsoft.com/office/drawing/2014/main" id="{A7C3211B-F91C-42A3-884D-CE9F25031B9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17BC457-28CE-4A8C-B596-94BDDB36BEAC}"/>
              </a:ext>
            </a:extLst>
          </p:cNvPr>
          <p:cNvSpPr>
            <a:spLocks noGrp="1"/>
          </p:cNvSpPr>
          <p:nvPr>
            <p:ph type="sldNum" sz="quarter" idx="12"/>
          </p:nvPr>
        </p:nvSpPr>
        <p:spPr/>
        <p:txBody>
          <a:bodyPr/>
          <a:lstStyle/>
          <a:p>
            <a:fld id="{FE7320BB-25BC-4EBE-A9B0-AFDA9216131B}" type="slidenum">
              <a:rPr lang="zh-TW" altLang="en-US" smtClean="0"/>
              <a:t>‹#›</a:t>
            </a:fld>
            <a:endParaRPr lang="zh-TW" altLang="en-US"/>
          </a:p>
        </p:txBody>
      </p:sp>
    </p:spTree>
    <p:extLst>
      <p:ext uri="{BB962C8B-B14F-4D97-AF65-F5344CB8AC3E}">
        <p14:creationId xmlns:p14="http://schemas.microsoft.com/office/powerpoint/2010/main" val="2205445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D609A7-1F88-47B6-A24E-17147CF2E479}"/>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90C81523-1112-43D3-A828-5FBB78092F3F}"/>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63C23DA-2596-48C2-AAEF-909AEAC33FE0}"/>
              </a:ext>
            </a:extLst>
          </p:cNvPr>
          <p:cNvSpPr>
            <a:spLocks noGrp="1"/>
          </p:cNvSpPr>
          <p:nvPr>
            <p:ph type="dt" sz="half" idx="10"/>
          </p:nvPr>
        </p:nvSpPr>
        <p:spPr/>
        <p:txBody>
          <a:bodyPr/>
          <a:lstStyle/>
          <a:p>
            <a:fld id="{2B7C482B-BE44-4B05-9688-0B5CC8BE7B2C}" type="datetimeFigureOut">
              <a:rPr lang="zh-TW" altLang="en-US" smtClean="0"/>
              <a:t>2023/11/20</a:t>
            </a:fld>
            <a:endParaRPr lang="zh-TW" altLang="en-US"/>
          </a:p>
        </p:txBody>
      </p:sp>
      <p:sp>
        <p:nvSpPr>
          <p:cNvPr id="5" name="頁尾版面配置區 4">
            <a:extLst>
              <a:ext uri="{FF2B5EF4-FFF2-40B4-BE49-F238E27FC236}">
                <a16:creationId xmlns:a16="http://schemas.microsoft.com/office/drawing/2014/main" id="{7AB30B89-D275-4A7F-90FC-932F5C3156B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D8A1C98-0DB4-494C-97C0-22E13A1489C5}"/>
              </a:ext>
            </a:extLst>
          </p:cNvPr>
          <p:cNvSpPr>
            <a:spLocks noGrp="1"/>
          </p:cNvSpPr>
          <p:nvPr>
            <p:ph type="sldNum" sz="quarter" idx="12"/>
          </p:nvPr>
        </p:nvSpPr>
        <p:spPr/>
        <p:txBody>
          <a:bodyPr/>
          <a:lstStyle/>
          <a:p>
            <a:fld id="{FE7320BB-25BC-4EBE-A9B0-AFDA9216131B}" type="slidenum">
              <a:rPr lang="zh-TW" altLang="en-US" smtClean="0"/>
              <a:t>‹#›</a:t>
            </a:fld>
            <a:endParaRPr lang="zh-TW" altLang="en-US"/>
          </a:p>
        </p:txBody>
      </p:sp>
    </p:spTree>
    <p:extLst>
      <p:ext uri="{BB962C8B-B14F-4D97-AF65-F5344CB8AC3E}">
        <p14:creationId xmlns:p14="http://schemas.microsoft.com/office/powerpoint/2010/main" val="132758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CC5FA3-4DDA-4C89-8A69-7B64D0D8BF48}"/>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DB7F55BA-9AFC-4559-99CD-076360170D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548FCB40-4B48-491E-BE01-DAEADAE65D03}"/>
              </a:ext>
            </a:extLst>
          </p:cNvPr>
          <p:cNvSpPr>
            <a:spLocks noGrp="1"/>
          </p:cNvSpPr>
          <p:nvPr>
            <p:ph type="dt" sz="half" idx="10"/>
          </p:nvPr>
        </p:nvSpPr>
        <p:spPr/>
        <p:txBody>
          <a:bodyPr/>
          <a:lstStyle/>
          <a:p>
            <a:fld id="{2B7C482B-BE44-4B05-9688-0B5CC8BE7B2C}" type="datetimeFigureOut">
              <a:rPr lang="zh-TW" altLang="en-US" smtClean="0"/>
              <a:t>2023/11/20</a:t>
            </a:fld>
            <a:endParaRPr lang="zh-TW" altLang="en-US"/>
          </a:p>
        </p:txBody>
      </p:sp>
      <p:sp>
        <p:nvSpPr>
          <p:cNvPr id="5" name="頁尾版面配置區 4">
            <a:extLst>
              <a:ext uri="{FF2B5EF4-FFF2-40B4-BE49-F238E27FC236}">
                <a16:creationId xmlns:a16="http://schemas.microsoft.com/office/drawing/2014/main" id="{3B213FC8-D5F4-4E15-8436-3AEDD914EC1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320A6C0-17ED-4C13-811F-134F6437080A}"/>
              </a:ext>
            </a:extLst>
          </p:cNvPr>
          <p:cNvSpPr>
            <a:spLocks noGrp="1"/>
          </p:cNvSpPr>
          <p:nvPr>
            <p:ph type="sldNum" sz="quarter" idx="12"/>
          </p:nvPr>
        </p:nvSpPr>
        <p:spPr/>
        <p:txBody>
          <a:bodyPr/>
          <a:lstStyle/>
          <a:p>
            <a:fld id="{FE7320BB-25BC-4EBE-A9B0-AFDA9216131B}" type="slidenum">
              <a:rPr lang="zh-TW" altLang="en-US" smtClean="0"/>
              <a:t>‹#›</a:t>
            </a:fld>
            <a:endParaRPr lang="zh-TW" altLang="en-US"/>
          </a:p>
        </p:txBody>
      </p:sp>
    </p:spTree>
    <p:extLst>
      <p:ext uri="{BB962C8B-B14F-4D97-AF65-F5344CB8AC3E}">
        <p14:creationId xmlns:p14="http://schemas.microsoft.com/office/powerpoint/2010/main" val="1689638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A1CE0D-653A-4EF6-B402-CEC24A93F4BA}"/>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CB69CA0A-E6FF-4F4B-BC97-414F59FEA351}"/>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745AF1C7-A318-493F-9A1A-3F2BE1731FC4}"/>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4F62BAE6-01B5-4226-BB8B-C644F9EB36E2}"/>
              </a:ext>
            </a:extLst>
          </p:cNvPr>
          <p:cNvSpPr>
            <a:spLocks noGrp="1"/>
          </p:cNvSpPr>
          <p:nvPr>
            <p:ph type="dt" sz="half" idx="10"/>
          </p:nvPr>
        </p:nvSpPr>
        <p:spPr/>
        <p:txBody>
          <a:bodyPr/>
          <a:lstStyle/>
          <a:p>
            <a:fld id="{2B7C482B-BE44-4B05-9688-0B5CC8BE7B2C}" type="datetimeFigureOut">
              <a:rPr lang="zh-TW" altLang="en-US" smtClean="0"/>
              <a:t>2023/11/20</a:t>
            </a:fld>
            <a:endParaRPr lang="zh-TW" altLang="en-US"/>
          </a:p>
        </p:txBody>
      </p:sp>
      <p:sp>
        <p:nvSpPr>
          <p:cNvPr id="6" name="頁尾版面配置區 5">
            <a:extLst>
              <a:ext uri="{FF2B5EF4-FFF2-40B4-BE49-F238E27FC236}">
                <a16:creationId xmlns:a16="http://schemas.microsoft.com/office/drawing/2014/main" id="{E93728A4-B7B6-4451-B5DC-9669F58D576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F14C6D5-B024-4D6E-A76A-B8AABD0374F8}"/>
              </a:ext>
            </a:extLst>
          </p:cNvPr>
          <p:cNvSpPr>
            <a:spLocks noGrp="1"/>
          </p:cNvSpPr>
          <p:nvPr>
            <p:ph type="sldNum" sz="quarter" idx="12"/>
          </p:nvPr>
        </p:nvSpPr>
        <p:spPr/>
        <p:txBody>
          <a:bodyPr/>
          <a:lstStyle/>
          <a:p>
            <a:fld id="{FE7320BB-25BC-4EBE-A9B0-AFDA9216131B}" type="slidenum">
              <a:rPr lang="zh-TW" altLang="en-US" smtClean="0"/>
              <a:t>‹#›</a:t>
            </a:fld>
            <a:endParaRPr lang="zh-TW" altLang="en-US"/>
          </a:p>
        </p:txBody>
      </p:sp>
    </p:spTree>
    <p:extLst>
      <p:ext uri="{BB962C8B-B14F-4D97-AF65-F5344CB8AC3E}">
        <p14:creationId xmlns:p14="http://schemas.microsoft.com/office/powerpoint/2010/main" val="3970788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9954DB-AD8E-4109-A617-2D4A305D288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E544DDC-B556-47A9-93CD-3C5B50B94D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088D16C4-9FFE-48D9-86E2-27C4190E94A1}"/>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6F884E37-943C-4490-9B86-1653BD2DEA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78B5AF7-F9BF-42EF-8F70-6D17EE2D2E6A}"/>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1F2398C8-1105-47FF-8E69-F7800CFD4FC7}"/>
              </a:ext>
            </a:extLst>
          </p:cNvPr>
          <p:cNvSpPr>
            <a:spLocks noGrp="1"/>
          </p:cNvSpPr>
          <p:nvPr>
            <p:ph type="dt" sz="half" idx="10"/>
          </p:nvPr>
        </p:nvSpPr>
        <p:spPr/>
        <p:txBody>
          <a:bodyPr/>
          <a:lstStyle/>
          <a:p>
            <a:fld id="{2B7C482B-BE44-4B05-9688-0B5CC8BE7B2C}" type="datetimeFigureOut">
              <a:rPr lang="zh-TW" altLang="en-US" smtClean="0"/>
              <a:t>2023/11/20</a:t>
            </a:fld>
            <a:endParaRPr lang="zh-TW" altLang="en-US"/>
          </a:p>
        </p:txBody>
      </p:sp>
      <p:sp>
        <p:nvSpPr>
          <p:cNvPr id="8" name="頁尾版面配置區 7">
            <a:extLst>
              <a:ext uri="{FF2B5EF4-FFF2-40B4-BE49-F238E27FC236}">
                <a16:creationId xmlns:a16="http://schemas.microsoft.com/office/drawing/2014/main" id="{A437A37F-39EB-42EA-8DEE-7A22F441E10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6ED31C97-96EA-4583-B836-2A620D7499D0}"/>
              </a:ext>
            </a:extLst>
          </p:cNvPr>
          <p:cNvSpPr>
            <a:spLocks noGrp="1"/>
          </p:cNvSpPr>
          <p:nvPr>
            <p:ph type="sldNum" sz="quarter" idx="12"/>
          </p:nvPr>
        </p:nvSpPr>
        <p:spPr/>
        <p:txBody>
          <a:bodyPr/>
          <a:lstStyle/>
          <a:p>
            <a:fld id="{FE7320BB-25BC-4EBE-A9B0-AFDA9216131B}" type="slidenum">
              <a:rPr lang="zh-TW" altLang="en-US" smtClean="0"/>
              <a:t>‹#›</a:t>
            </a:fld>
            <a:endParaRPr lang="zh-TW" altLang="en-US"/>
          </a:p>
        </p:txBody>
      </p:sp>
    </p:spTree>
    <p:extLst>
      <p:ext uri="{BB962C8B-B14F-4D97-AF65-F5344CB8AC3E}">
        <p14:creationId xmlns:p14="http://schemas.microsoft.com/office/powerpoint/2010/main" val="97857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37903F1-BC13-4073-92AD-0732BC6884F2}"/>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BCA75720-418C-4B1F-8475-A4A775525828}"/>
              </a:ext>
            </a:extLst>
          </p:cNvPr>
          <p:cNvSpPr>
            <a:spLocks noGrp="1"/>
          </p:cNvSpPr>
          <p:nvPr>
            <p:ph type="dt" sz="half" idx="10"/>
          </p:nvPr>
        </p:nvSpPr>
        <p:spPr/>
        <p:txBody>
          <a:bodyPr/>
          <a:lstStyle/>
          <a:p>
            <a:fld id="{2B7C482B-BE44-4B05-9688-0B5CC8BE7B2C}" type="datetimeFigureOut">
              <a:rPr lang="zh-TW" altLang="en-US" smtClean="0"/>
              <a:t>2023/11/20</a:t>
            </a:fld>
            <a:endParaRPr lang="zh-TW" altLang="en-US"/>
          </a:p>
        </p:txBody>
      </p:sp>
      <p:sp>
        <p:nvSpPr>
          <p:cNvPr id="4" name="頁尾版面配置區 3">
            <a:extLst>
              <a:ext uri="{FF2B5EF4-FFF2-40B4-BE49-F238E27FC236}">
                <a16:creationId xmlns:a16="http://schemas.microsoft.com/office/drawing/2014/main" id="{E8E45827-209C-455A-919B-D54A981A64D0}"/>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73498269-831A-4BF6-A8B4-5B7C282788AC}"/>
              </a:ext>
            </a:extLst>
          </p:cNvPr>
          <p:cNvSpPr>
            <a:spLocks noGrp="1"/>
          </p:cNvSpPr>
          <p:nvPr>
            <p:ph type="sldNum" sz="quarter" idx="12"/>
          </p:nvPr>
        </p:nvSpPr>
        <p:spPr/>
        <p:txBody>
          <a:bodyPr/>
          <a:lstStyle/>
          <a:p>
            <a:fld id="{FE7320BB-25BC-4EBE-A9B0-AFDA9216131B}" type="slidenum">
              <a:rPr lang="zh-TW" altLang="en-US" smtClean="0"/>
              <a:t>‹#›</a:t>
            </a:fld>
            <a:endParaRPr lang="zh-TW" altLang="en-US"/>
          </a:p>
        </p:txBody>
      </p:sp>
    </p:spTree>
    <p:extLst>
      <p:ext uri="{BB962C8B-B14F-4D97-AF65-F5344CB8AC3E}">
        <p14:creationId xmlns:p14="http://schemas.microsoft.com/office/powerpoint/2010/main" val="304508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AEDD4AFF-BEB0-4D5B-8D6B-01956B6D90DB}"/>
              </a:ext>
            </a:extLst>
          </p:cNvPr>
          <p:cNvSpPr>
            <a:spLocks noGrp="1"/>
          </p:cNvSpPr>
          <p:nvPr>
            <p:ph type="dt" sz="half" idx="10"/>
          </p:nvPr>
        </p:nvSpPr>
        <p:spPr/>
        <p:txBody>
          <a:bodyPr/>
          <a:lstStyle/>
          <a:p>
            <a:fld id="{2B7C482B-BE44-4B05-9688-0B5CC8BE7B2C}" type="datetimeFigureOut">
              <a:rPr lang="zh-TW" altLang="en-US" smtClean="0"/>
              <a:t>2023/11/20</a:t>
            </a:fld>
            <a:endParaRPr lang="zh-TW" altLang="en-US"/>
          </a:p>
        </p:txBody>
      </p:sp>
      <p:sp>
        <p:nvSpPr>
          <p:cNvPr id="3" name="頁尾版面配置區 2">
            <a:extLst>
              <a:ext uri="{FF2B5EF4-FFF2-40B4-BE49-F238E27FC236}">
                <a16:creationId xmlns:a16="http://schemas.microsoft.com/office/drawing/2014/main" id="{2899FDDF-4BAB-47B1-AC84-C7E042B15D27}"/>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96E4930-653D-4DFC-9C1A-4D9693FD6E74}"/>
              </a:ext>
            </a:extLst>
          </p:cNvPr>
          <p:cNvSpPr>
            <a:spLocks noGrp="1"/>
          </p:cNvSpPr>
          <p:nvPr>
            <p:ph type="sldNum" sz="quarter" idx="12"/>
          </p:nvPr>
        </p:nvSpPr>
        <p:spPr/>
        <p:txBody>
          <a:bodyPr/>
          <a:lstStyle/>
          <a:p>
            <a:fld id="{FE7320BB-25BC-4EBE-A9B0-AFDA9216131B}" type="slidenum">
              <a:rPr lang="zh-TW" altLang="en-US" smtClean="0"/>
              <a:t>‹#›</a:t>
            </a:fld>
            <a:endParaRPr lang="zh-TW" altLang="en-US"/>
          </a:p>
        </p:txBody>
      </p:sp>
    </p:spTree>
    <p:extLst>
      <p:ext uri="{BB962C8B-B14F-4D97-AF65-F5344CB8AC3E}">
        <p14:creationId xmlns:p14="http://schemas.microsoft.com/office/powerpoint/2010/main" val="17026540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AC8F7B-5959-4391-ACDA-4A7C4990537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55E77329-DD81-4D61-BC49-13101E66C9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EAFD500C-1397-4291-9545-7114D16B0B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57F176B-0F1C-4544-8ACE-D882643D6AA4}"/>
              </a:ext>
            </a:extLst>
          </p:cNvPr>
          <p:cNvSpPr>
            <a:spLocks noGrp="1"/>
          </p:cNvSpPr>
          <p:nvPr>
            <p:ph type="dt" sz="half" idx="10"/>
          </p:nvPr>
        </p:nvSpPr>
        <p:spPr/>
        <p:txBody>
          <a:bodyPr/>
          <a:lstStyle/>
          <a:p>
            <a:fld id="{2B7C482B-BE44-4B05-9688-0B5CC8BE7B2C}" type="datetimeFigureOut">
              <a:rPr lang="zh-TW" altLang="en-US" smtClean="0"/>
              <a:t>2023/11/20</a:t>
            </a:fld>
            <a:endParaRPr lang="zh-TW" altLang="en-US"/>
          </a:p>
        </p:txBody>
      </p:sp>
      <p:sp>
        <p:nvSpPr>
          <p:cNvPr id="6" name="頁尾版面配置區 5">
            <a:extLst>
              <a:ext uri="{FF2B5EF4-FFF2-40B4-BE49-F238E27FC236}">
                <a16:creationId xmlns:a16="http://schemas.microsoft.com/office/drawing/2014/main" id="{BC057E20-6A53-49E2-AF79-AC1365CB83A5}"/>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BD807BD-0A3C-47EC-9E26-6D5C046060E1}"/>
              </a:ext>
            </a:extLst>
          </p:cNvPr>
          <p:cNvSpPr>
            <a:spLocks noGrp="1"/>
          </p:cNvSpPr>
          <p:nvPr>
            <p:ph type="sldNum" sz="quarter" idx="12"/>
          </p:nvPr>
        </p:nvSpPr>
        <p:spPr/>
        <p:txBody>
          <a:bodyPr/>
          <a:lstStyle/>
          <a:p>
            <a:fld id="{FE7320BB-25BC-4EBE-A9B0-AFDA9216131B}" type="slidenum">
              <a:rPr lang="zh-TW" altLang="en-US" smtClean="0"/>
              <a:t>‹#›</a:t>
            </a:fld>
            <a:endParaRPr lang="zh-TW" altLang="en-US"/>
          </a:p>
        </p:txBody>
      </p:sp>
    </p:spTree>
    <p:extLst>
      <p:ext uri="{BB962C8B-B14F-4D97-AF65-F5344CB8AC3E}">
        <p14:creationId xmlns:p14="http://schemas.microsoft.com/office/powerpoint/2010/main" val="9987145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701F43F-D40A-41B1-AD88-20892CD5236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806DD466-0AFF-46FC-A976-E085EC5472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A1D3966C-3753-4A90-B928-8DC54AEFB0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8621364-39BA-4651-BEB2-83D5FF841DA3}"/>
              </a:ext>
            </a:extLst>
          </p:cNvPr>
          <p:cNvSpPr>
            <a:spLocks noGrp="1"/>
          </p:cNvSpPr>
          <p:nvPr>
            <p:ph type="dt" sz="half" idx="10"/>
          </p:nvPr>
        </p:nvSpPr>
        <p:spPr/>
        <p:txBody>
          <a:bodyPr/>
          <a:lstStyle/>
          <a:p>
            <a:fld id="{2B7C482B-BE44-4B05-9688-0B5CC8BE7B2C}" type="datetimeFigureOut">
              <a:rPr lang="zh-TW" altLang="en-US" smtClean="0"/>
              <a:t>2023/11/20</a:t>
            </a:fld>
            <a:endParaRPr lang="zh-TW" altLang="en-US"/>
          </a:p>
        </p:txBody>
      </p:sp>
      <p:sp>
        <p:nvSpPr>
          <p:cNvPr id="6" name="頁尾版面配置區 5">
            <a:extLst>
              <a:ext uri="{FF2B5EF4-FFF2-40B4-BE49-F238E27FC236}">
                <a16:creationId xmlns:a16="http://schemas.microsoft.com/office/drawing/2014/main" id="{214C2C6E-855E-424D-BBAF-841E980BAA3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0603612-4554-4228-891D-B815FA1B92BF}"/>
              </a:ext>
            </a:extLst>
          </p:cNvPr>
          <p:cNvSpPr>
            <a:spLocks noGrp="1"/>
          </p:cNvSpPr>
          <p:nvPr>
            <p:ph type="sldNum" sz="quarter" idx="12"/>
          </p:nvPr>
        </p:nvSpPr>
        <p:spPr/>
        <p:txBody>
          <a:bodyPr/>
          <a:lstStyle/>
          <a:p>
            <a:fld id="{FE7320BB-25BC-4EBE-A9B0-AFDA9216131B}" type="slidenum">
              <a:rPr lang="zh-TW" altLang="en-US" smtClean="0"/>
              <a:t>‹#›</a:t>
            </a:fld>
            <a:endParaRPr lang="zh-TW" altLang="en-US"/>
          </a:p>
        </p:txBody>
      </p:sp>
    </p:spTree>
    <p:extLst>
      <p:ext uri="{BB962C8B-B14F-4D97-AF65-F5344CB8AC3E}">
        <p14:creationId xmlns:p14="http://schemas.microsoft.com/office/powerpoint/2010/main" val="1487269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02DD56-EF47-4F8A-8403-F3BF00A12122}"/>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CA814D6B-C932-4260-BBA5-75022053474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2D67B0D-BC86-4BF5-B059-E7AE1104BD00}"/>
              </a:ext>
            </a:extLst>
          </p:cNvPr>
          <p:cNvSpPr>
            <a:spLocks noGrp="1"/>
          </p:cNvSpPr>
          <p:nvPr>
            <p:ph type="dt" sz="half" idx="10"/>
          </p:nvPr>
        </p:nvSpPr>
        <p:spPr/>
        <p:txBody>
          <a:bodyPr/>
          <a:lstStyle/>
          <a:p>
            <a:fld id="{2B7C482B-BE44-4B05-9688-0B5CC8BE7B2C}" type="datetimeFigureOut">
              <a:rPr lang="zh-TW" altLang="en-US" smtClean="0"/>
              <a:t>2023/11/20</a:t>
            </a:fld>
            <a:endParaRPr lang="zh-TW" altLang="en-US"/>
          </a:p>
        </p:txBody>
      </p:sp>
      <p:sp>
        <p:nvSpPr>
          <p:cNvPr id="5" name="頁尾版面配置區 4">
            <a:extLst>
              <a:ext uri="{FF2B5EF4-FFF2-40B4-BE49-F238E27FC236}">
                <a16:creationId xmlns:a16="http://schemas.microsoft.com/office/drawing/2014/main" id="{8CC71F41-1EC0-4DFE-BF75-15252BD3824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1C7A9FEA-EAB6-45A7-B29E-E5EE1E6F9A05}"/>
              </a:ext>
            </a:extLst>
          </p:cNvPr>
          <p:cNvSpPr>
            <a:spLocks noGrp="1"/>
          </p:cNvSpPr>
          <p:nvPr>
            <p:ph type="sldNum" sz="quarter" idx="12"/>
          </p:nvPr>
        </p:nvSpPr>
        <p:spPr/>
        <p:txBody>
          <a:bodyPr/>
          <a:lstStyle/>
          <a:p>
            <a:fld id="{FE7320BB-25BC-4EBE-A9B0-AFDA9216131B}" type="slidenum">
              <a:rPr lang="zh-TW" altLang="en-US" smtClean="0"/>
              <a:t>‹#›</a:t>
            </a:fld>
            <a:endParaRPr lang="zh-TW" altLang="en-US"/>
          </a:p>
        </p:txBody>
      </p:sp>
    </p:spTree>
    <p:extLst>
      <p:ext uri="{BB962C8B-B14F-4D97-AF65-F5344CB8AC3E}">
        <p14:creationId xmlns:p14="http://schemas.microsoft.com/office/powerpoint/2010/main" val="2218773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99F70416-75D8-47A0-B494-A63DEA0F419B}"/>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7D7B2959-A8AE-4E10-9FF4-E45337F0AF08}"/>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E2119AC-A93E-43EC-8B12-64D63C77622B}"/>
              </a:ext>
            </a:extLst>
          </p:cNvPr>
          <p:cNvSpPr>
            <a:spLocks noGrp="1"/>
          </p:cNvSpPr>
          <p:nvPr>
            <p:ph type="dt" sz="half" idx="10"/>
          </p:nvPr>
        </p:nvSpPr>
        <p:spPr/>
        <p:txBody>
          <a:bodyPr/>
          <a:lstStyle/>
          <a:p>
            <a:fld id="{2B7C482B-BE44-4B05-9688-0B5CC8BE7B2C}" type="datetimeFigureOut">
              <a:rPr lang="zh-TW" altLang="en-US" smtClean="0"/>
              <a:t>2023/11/20</a:t>
            </a:fld>
            <a:endParaRPr lang="zh-TW" altLang="en-US"/>
          </a:p>
        </p:txBody>
      </p:sp>
      <p:sp>
        <p:nvSpPr>
          <p:cNvPr id="5" name="頁尾版面配置區 4">
            <a:extLst>
              <a:ext uri="{FF2B5EF4-FFF2-40B4-BE49-F238E27FC236}">
                <a16:creationId xmlns:a16="http://schemas.microsoft.com/office/drawing/2014/main" id="{CC9F0A19-28C9-4A4B-AED1-512355F303C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04A9BB4-4E5F-4C99-8FA3-1D122DE992E5}"/>
              </a:ext>
            </a:extLst>
          </p:cNvPr>
          <p:cNvSpPr>
            <a:spLocks noGrp="1"/>
          </p:cNvSpPr>
          <p:nvPr>
            <p:ph type="sldNum" sz="quarter" idx="12"/>
          </p:nvPr>
        </p:nvSpPr>
        <p:spPr/>
        <p:txBody>
          <a:bodyPr/>
          <a:lstStyle/>
          <a:p>
            <a:fld id="{FE7320BB-25BC-4EBE-A9B0-AFDA9216131B}" type="slidenum">
              <a:rPr lang="zh-TW" altLang="en-US" smtClean="0"/>
              <a:t>‹#›</a:t>
            </a:fld>
            <a:endParaRPr lang="zh-TW" altLang="en-US"/>
          </a:p>
        </p:txBody>
      </p:sp>
    </p:spTree>
    <p:extLst>
      <p:ext uri="{BB962C8B-B14F-4D97-AF65-F5344CB8AC3E}">
        <p14:creationId xmlns:p14="http://schemas.microsoft.com/office/powerpoint/2010/main" val="502013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1035DCF7-CC85-47A9-8D6E-A70C730448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C48F457-DD99-4B3D-8D15-6650F438615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344B45A-9A8A-4617-8306-2FE1E86895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B7C482B-BE44-4B05-9688-0B5CC8BE7B2C}" type="datetimeFigureOut">
              <a:rPr lang="zh-TW" altLang="en-US" smtClean="0"/>
              <a:t>2023/11/20</a:t>
            </a:fld>
            <a:endParaRPr lang="zh-TW" altLang="en-US"/>
          </a:p>
        </p:txBody>
      </p:sp>
      <p:sp>
        <p:nvSpPr>
          <p:cNvPr id="5" name="頁尾版面配置區 4">
            <a:extLst>
              <a:ext uri="{FF2B5EF4-FFF2-40B4-BE49-F238E27FC236}">
                <a16:creationId xmlns:a16="http://schemas.microsoft.com/office/drawing/2014/main" id="{A52590A8-9EDE-48F5-803A-8955A5F3D7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B0B7628-50B2-4EE4-944B-54F17DB19CB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7320BB-25BC-4EBE-A9B0-AFDA9216131B}" type="slidenum">
              <a:rPr lang="zh-TW" altLang="en-US" smtClean="0"/>
              <a:t>‹#›</a:t>
            </a:fld>
            <a:endParaRPr lang="zh-TW" altLang="en-US"/>
          </a:p>
        </p:txBody>
      </p:sp>
    </p:spTree>
    <p:extLst>
      <p:ext uri="{BB962C8B-B14F-4D97-AF65-F5344CB8AC3E}">
        <p14:creationId xmlns:p14="http://schemas.microsoft.com/office/powerpoint/2010/main" val="3167349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C0669AF7-5E74-4648-8E82-3F2F683FA918}"/>
              </a:ext>
            </a:extLst>
          </p:cNvPr>
          <p:cNvSpPr>
            <a:spLocks noGrp="1"/>
          </p:cNvSpPr>
          <p:nvPr>
            <p:ph type="title"/>
          </p:nvPr>
        </p:nvSpPr>
        <p:spPr/>
        <p:txBody>
          <a:bodyPr/>
          <a:lstStyle/>
          <a:p>
            <a:r>
              <a:rPr lang="zh-TW" altLang="en-US" dirty="0"/>
              <a:t>以</a:t>
            </a:r>
            <a:r>
              <a:rPr lang="en-US" altLang="zh-TW" dirty="0"/>
              <a:t>MVC</a:t>
            </a:r>
            <a:r>
              <a:rPr lang="zh-TW" altLang="en-US" dirty="0"/>
              <a:t>架構開發簡易線上購物網站</a:t>
            </a:r>
          </a:p>
        </p:txBody>
      </p:sp>
      <p:sp>
        <p:nvSpPr>
          <p:cNvPr id="5" name="內容版面配置區 4">
            <a:extLst>
              <a:ext uri="{FF2B5EF4-FFF2-40B4-BE49-F238E27FC236}">
                <a16:creationId xmlns:a16="http://schemas.microsoft.com/office/drawing/2014/main" id="{1B724507-E264-4D67-BB08-1DAFBE61D398}"/>
              </a:ext>
            </a:extLst>
          </p:cNvPr>
          <p:cNvSpPr>
            <a:spLocks noGrp="1"/>
          </p:cNvSpPr>
          <p:nvPr>
            <p:ph idx="1"/>
          </p:nvPr>
        </p:nvSpPr>
        <p:spPr/>
        <p:txBody>
          <a:bodyPr/>
          <a:lstStyle/>
          <a:p>
            <a:r>
              <a:rPr lang="zh-TW" altLang="en-US" dirty="0"/>
              <a:t>功能需求</a:t>
            </a:r>
            <a:endParaRPr lang="en-US" altLang="zh-TW" dirty="0"/>
          </a:p>
          <a:p>
            <a:pPr lvl="1"/>
            <a:r>
              <a:rPr lang="zh-TW" altLang="en-US" dirty="0"/>
              <a:t>客戶角色</a:t>
            </a:r>
            <a:r>
              <a:rPr lang="en-US" altLang="zh-TW" dirty="0"/>
              <a:t>:</a:t>
            </a:r>
            <a:r>
              <a:rPr lang="zh-TW" altLang="en-US" dirty="0"/>
              <a:t> 假設只有一位客戶</a:t>
            </a:r>
            <a:endParaRPr lang="en-US" altLang="zh-TW" dirty="0"/>
          </a:p>
          <a:p>
            <a:pPr lvl="2"/>
            <a:r>
              <a:rPr lang="zh-TW" altLang="en-US" dirty="0"/>
              <a:t>可以瀏覽商品</a:t>
            </a:r>
            <a:r>
              <a:rPr lang="en-US" altLang="zh-TW" dirty="0"/>
              <a:t>(</a:t>
            </a:r>
            <a:r>
              <a:rPr lang="zh-TW" altLang="en-US" dirty="0"/>
              <a:t>清單、商品文字說明</a:t>
            </a:r>
            <a:r>
              <a:rPr lang="en-US" altLang="zh-TW" dirty="0"/>
              <a:t>)</a:t>
            </a:r>
          </a:p>
          <a:p>
            <a:pPr lvl="2"/>
            <a:r>
              <a:rPr lang="zh-TW" altLang="en-US" dirty="0"/>
              <a:t>可以將商品加入</a:t>
            </a:r>
            <a:r>
              <a:rPr lang="en-US" altLang="zh-TW" dirty="0"/>
              <a:t>/</a:t>
            </a:r>
            <a:r>
              <a:rPr lang="zh-TW" altLang="en-US" dirty="0"/>
              <a:t>移出購物車</a:t>
            </a:r>
            <a:endParaRPr lang="en-US" altLang="zh-TW" dirty="0"/>
          </a:p>
          <a:p>
            <a:pPr lvl="2"/>
            <a:r>
              <a:rPr lang="zh-TW" altLang="en-US" dirty="0"/>
              <a:t>可以查看購物車內容</a:t>
            </a:r>
            <a:r>
              <a:rPr lang="en-US" altLang="zh-TW" dirty="0"/>
              <a:t>(</a:t>
            </a:r>
            <a:r>
              <a:rPr lang="zh-TW" altLang="en-US" dirty="0"/>
              <a:t>列出商品項目、單價、數量、總價</a:t>
            </a:r>
            <a:r>
              <a:rPr lang="en-US" altLang="zh-TW" dirty="0"/>
              <a:t>)</a:t>
            </a:r>
          </a:p>
          <a:p>
            <a:pPr lvl="1"/>
            <a:r>
              <a:rPr lang="zh-TW" altLang="en-US" dirty="0"/>
              <a:t>商家角色</a:t>
            </a:r>
            <a:r>
              <a:rPr lang="en-US" altLang="zh-TW" dirty="0"/>
              <a:t>:</a:t>
            </a:r>
            <a:r>
              <a:rPr lang="zh-TW" altLang="en-US" dirty="0"/>
              <a:t>假設只有一個商家</a:t>
            </a:r>
            <a:endParaRPr lang="en-US" altLang="zh-TW" dirty="0"/>
          </a:p>
          <a:p>
            <a:pPr lvl="2"/>
            <a:r>
              <a:rPr lang="zh-TW" altLang="en-US" dirty="0"/>
              <a:t>可以增加</a:t>
            </a:r>
            <a:r>
              <a:rPr lang="en-US" altLang="zh-TW" dirty="0"/>
              <a:t>/</a:t>
            </a:r>
            <a:r>
              <a:rPr lang="zh-TW" altLang="en-US" dirty="0"/>
              <a:t>修改</a:t>
            </a:r>
            <a:r>
              <a:rPr lang="en-US" altLang="zh-TW" dirty="0"/>
              <a:t>/</a:t>
            </a:r>
            <a:r>
              <a:rPr lang="zh-TW" altLang="en-US" dirty="0"/>
              <a:t>刪除商品</a:t>
            </a:r>
            <a:endParaRPr lang="en-US" altLang="zh-TW" dirty="0"/>
          </a:p>
          <a:p>
            <a:r>
              <a:rPr lang="zh-TW" altLang="en-US" dirty="0"/>
              <a:t>開發方式</a:t>
            </a:r>
            <a:endParaRPr lang="en-US" altLang="zh-TW" dirty="0"/>
          </a:p>
          <a:p>
            <a:pPr lvl="1"/>
            <a:r>
              <a:rPr lang="zh-TW" altLang="en-US" dirty="0"/>
              <a:t>程式碼必須使用</a:t>
            </a:r>
            <a:r>
              <a:rPr lang="en-US" altLang="zh-TW" dirty="0"/>
              <a:t>git</a:t>
            </a:r>
            <a:r>
              <a:rPr lang="zh-TW" altLang="en-US" dirty="0"/>
              <a:t>做版本管理，請將組員名單與</a:t>
            </a:r>
            <a:r>
              <a:rPr lang="en-US" altLang="zh-TW" dirty="0" err="1"/>
              <a:t>github</a:t>
            </a:r>
            <a:r>
              <a:rPr lang="zh-TW" altLang="en-US" dirty="0"/>
              <a:t>網址上傳</a:t>
            </a:r>
            <a:r>
              <a:rPr lang="en-US" altLang="zh-TW" dirty="0" err="1"/>
              <a:t>moodle</a:t>
            </a:r>
            <a:endParaRPr lang="en-US" altLang="zh-TW" dirty="0"/>
          </a:p>
          <a:p>
            <a:pPr lvl="1"/>
            <a:r>
              <a:rPr lang="zh-TW" altLang="en-US" dirty="0"/>
              <a:t>組內必須分工開發，會參考</a:t>
            </a:r>
            <a:r>
              <a:rPr lang="en-US" altLang="zh-TW" dirty="0"/>
              <a:t>git</a:t>
            </a:r>
            <a:r>
              <a:rPr lang="zh-TW" altLang="en-US" dirty="0"/>
              <a:t>的</a:t>
            </a:r>
            <a:r>
              <a:rPr lang="en-US" altLang="zh-TW" dirty="0"/>
              <a:t>commit</a:t>
            </a:r>
            <a:r>
              <a:rPr lang="zh-TW" altLang="en-US" dirty="0"/>
              <a:t>紀錄，做為評分依據之一</a:t>
            </a:r>
            <a:endParaRPr lang="en-US" altLang="zh-TW" dirty="0"/>
          </a:p>
          <a:p>
            <a:pPr lvl="1"/>
            <a:r>
              <a:rPr lang="zh-TW" altLang="en-US" dirty="0"/>
              <a:t>未來功能需求會再增加</a:t>
            </a:r>
            <a:endParaRPr lang="en-US" altLang="zh-TW" dirty="0"/>
          </a:p>
          <a:p>
            <a:endParaRPr lang="zh-TW" altLang="en-US" dirty="0"/>
          </a:p>
        </p:txBody>
      </p:sp>
    </p:spTree>
    <p:extLst>
      <p:ext uri="{BB962C8B-B14F-4D97-AF65-F5344CB8AC3E}">
        <p14:creationId xmlns:p14="http://schemas.microsoft.com/office/powerpoint/2010/main" val="22363522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C0669AF7-5E74-4648-8E82-3F2F683FA918}"/>
              </a:ext>
            </a:extLst>
          </p:cNvPr>
          <p:cNvSpPr>
            <a:spLocks noGrp="1"/>
          </p:cNvSpPr>
          <p:nvPr>
            <p:ph type="title"/>
          </p:nvPr>
        </p:nvSpPr>
        <p:spPr/>
        <p:txBody>
          <a:bodyPr/>
          <a:lstStyle/>
          <a:p>
            <a:r>
              <a:rPr lang="en-US" altLang="zh-TW" dirty="0"/>
              <a:t>3b:</a:t>
            </a:r>
            <a:r>
              <a:rPr lang="zh-TW" altLang="en-US" dirty="0"/>
              <a:t>以</a:t>
            </a:r>
            <a:r>
              <a:rPr lang="en-US" altLang="zh-TW" dirty="0"/>
              <a:t>MVC</a:t>
            </a:r>
            <a:r>
              <a:rPr lang="zh-TW" altLang="en-US" dirty="0"/>
              <a:t>架構開發簡易線上購物網站</a:t>
            </a:r>
          </a:p>
        </p:txBody>
      </p:sp>
      <p:sp>
        <p:nvSpPr>
          <p:cNvPr id="5" name="內容版面配置區 4">
            <a:extLst>
              <a:ext uri="{FF2B5EF4-FFF2-40B4-BE49-F238E27FC236}">
                <a16:creationId xmlns:a16="http://schemas.microsoft.com/office/drawing/2014/main" id="{1B724507-E264-4D67-BB08-1DAFBE61D398}"/>
              </a:ext>
            </a:extLst>
          </p:cNvPr>
          <p:cNvSpPr>
            <a:spLocks noGrp="1"/>
          </p:cNvSpPr>
          <p:nvPr>
            <p:ph idx="1"/>
          </p:nvPr>
        </p:nvSpPr>
        <p:spPr/>
        <p:txBody>
          <a:bodyPr>
            <a:normAutofit fontScale="85000" lnSpcReduction="20000"/>
          </a:bodyPr>
          <a:lstStyle/>
          <a:p>
            <a:r>
              <a:rPr lang="zh-TW" altLang="en-US" dirty="0"/>
              <a:t>功能需求</a:t>
            </a:r>
            <a:endParaRPr lang="en-US" altLang="zh-TW" dirty="0"/>
          </a:p>
          <a:p>
            <a:pPr lvl="1"/>
            <a:r>
              <a:rPr lang="zh-TW" altLang="en-US" dirty="0"/>
              <a:t>增加使用者登入機制，依照登入資訊決定其角色，登入後依照其角色顯示對應的頁面</a:t>
            </a:r>
            <a:endParaRPr lang="en-US" altLang="zh-TW" dirty="0"/>
          </a:p>
          <a:p>
            <a:pPr lvl="1"/>
            <a:r>
              <a:rPr lang="zh-TW" altLang="en-US" dirty="0"/>
              <a:t>增加客戶註冊功能，新客戶可以註冊成為使用者</a:t>
            </a:r>
            <a:endParaRPr lang="en-US" altLang="zh-TW" dirty="0"/>
          </a:p>
          <a:p>
            <a:pPr lvl="2"/>
            <a:r>
              <a:rPr lang="zh-TW" altLang="en-US" dirty="0"/>
              <a:t>系統可以有多位客戶，個別有各自帳密，與其購物車內容</a:t>
            </a:r>
            <a:endParaRPr lang="en-US" altLang="zh-TW" dirty="0"/>
          </a:p>
          <a:p>
            <a:pPr lvl="1"/>
            <a:r>
              <a:rPr lang="zh-TW" altLang="en-US" dirty="0">
                <a:solidFill>
                  <a:srgbClr val="FF0000"/>
                </a:solidFill>
              </a:rPr>
              <a:t>客戶角色</a:t>
            </a:r>
            <a:r>
              <a:rPr lang="en-US" altLang="zh-TW" dirty="0">
                <a:solidFill>
                  <a:srgbClr val="FF0000"/>
                </a:solidFill>
              </a:rPr>
              <a:t>(</a:t>
            </a:r>
            <a:r>
              <a:rPr lang="zh-TW" altLang="en-US" dirty="0">
                <a:solidFill>
                  <a:srgbClr val="FF0000"/>
                </a:solidFill>
              </a:rPr>
              <a:t>可以有多位</a:t>
            </a:r>
            <a:r>
              <a:rPr lang="en-US" altLang="zh-TW" dirty="0">
                <a:solidFill>
                  <a:srgbClr val="FF0000"/>
                </a:solidFill>
              </a:rPr>
              <a:t>)</a:t>
            </a:r>
            <a:r>
              <a:rPr lang="en-US" altLang="zh-TW" dirty="0"/>
              <a:t>:</a:t>
            </a:r>
          </a:p>
          <a:p>
            <a:pPr lvl="2"/>
            <a:r>
              <a:rPr lang="zh-TW" altLang="en-US" dirty="0"/>
              <a:t>可以將購物車結帳 </a:t>
            </a:r>
            <a:r>
              <a:rPr lang="en-US" altLang="zh-TW" dirty="0"/>
              <a:t>(</a:t>
            </a:r>
            <a:r>
              <a:rPr lang="zh-TW" altLang="en-US" dirty="0"/>
              <a:t>不用處理付款與金流</a:t>
            </a:r>
            <a:r>
              <a:rPr lang="en-US" altLang="zh-TW" dirty="0"/>
              <a:t>)</a:t>
            </a:r>
            <a:r>
              <a:rPr lang="zh-TW" altLang="en-US" dirty="0"/>
              <a:t>送出成為未處理訂單</a:t>
            </a:r>
            <a:endParaRPr lang="en-US" altLang="zh-TW" dirty="0"/>
          </a:p>
          <a:p>
            <a:pPr lvl="2"/>
            <a:r>
              <a:rPr lang="zh-TW" altLang="en-US" dirty="0"/>
              <a:t>訂單送出後即自動清空，以便下次採購</a:t>
            </a:r>
            <a:endParaRPr lang="en-US" altLang="zh-TW" dirty="0"/>
          </a:p>
          <a:p>
            <a:pPr lvl="2"/>
            <a:r>
              <a:rPr lang="zh-TW" altLang="en-US" dirty="0"/>
              <a:t>可以查看已送出的訂單狀態</a:t>
            </a:r>
            <a:endParaRPr lang="en-US" altLang="zh-TW" dirty="0"/>
          </a:p>
          <a:p>
            <a:pPr lvl="2"/>
            <a:r>
              <a:rPr lang="zh-TW" altLang="en-US" dirty="0"/>
              <a:t>收到貨品後，可以對該訂單評價滿意度</a:t>
            </a:r>
            <a:r>
              <a:rPr lang="en-US" altLang="zh-TW" dirty="0"/>
              <a:t>(1-5</a:t>
            </a:r>
            <a:r>
              <a:rPr lang="zh-TW" altLang="en-US" dirty="0"/>
              <a:t>顆星</a:t>
            </a:r>
            <a:r>
              <a:rPr lang="en-US" altLang="zh-TW" dirty="0"/>
              <a:t>)</a:t>
            </a:r>
            <a:r>
              <a:rPr lang="zh-TW" altLang="en-US" dirty="0"/>
              <a:t>，完成此筆交易</a:t>
            </a:r>
            <a:endParaRPr lang="en-US" altLang="zh-TW" dirty="0"/>
          </a:p>
          <a:p>
            <a:pPr lvl="1"/>
            <a:r>
              <a:rPr lang="zh-TW" altLang="en-US" dirty="0">
                <a:solidFill>
                  <a:srgbClr val="FF0000"/>
                </a:solidFill>
              </a:rPr>
              <a:t>商家角色</a:t>
            </a:r>
            <a:r>
              <a:rPr lang="en-US" altLang="zh-TW" dirty="0">
                <a:solidFill>
                  <a:srgbClr val="FF0000"/>
                </a:solidFill>
              </a:rPr>
              <a:t>(</a:t>
            </a:r>
            <a:r>
              <a:rPr lang="zh-TW" altLang="en-US" dirty="0">
                <a:solidFill>
                  <a:srgbClr val="FF0000"/>
                </a:solidFill>
              </a:rPr>
              <a:t>假設只有一位</a:t>
            </a:r>
            <a:r>
              <a:rPr lang="en-US" altLang="zh-TW" dirty="0">
                <a:solidFill>
                  <a:srgbClr val="FF0000"/>
                </a:solidFill>
              </a:rPr>
              <a:t>)</a:t>
            </a:r>
            <a:r>
              <a:rPr lang="en-US" altLang="zh-TW" dirty="0"/>
              <a:t>:</a:t>
            </a:r>
          </a:p>
          <a:p>
            <a:pPr lvl="2"/>
            <a:r>
              <a:rPr lang="zh-TW" altLang="en-US" dirty="0"/>
              <a:t>可以將收到的訂單進行確認，成為處理中訂單</a:t>
            </a:r>
            <a:endParaRPr lang="en-US" altLang="zh-TW" dirty="0"/>
          </a:p>
          <a:p>
            <a:pPr lvl="2"/>
            <a:r>
              <a:rPr lang="zh-TW" altLang="en-US" dirty="0"/>
              <a:t>可以將確認過的訂單包裝出貨，成為寄送中訂單</a:t>
            </a:r>
            <a:endParaRPr lang="en-US" altLang="zh-TW" dirty="0"/>
          </a:p>
          <a:p>
            <a:pPr lvl="1"/>
            <a:r>
              <a:rPr lang="zh-TW" altLang="en-US" dirty="0">
                <a:solidFill>
                  <a:srgbClr val="FF0000"/>
                </a:solidFill>
              </a:rPr>
              <a:t>物流角色</a:t>
            </a:r>
            <a:r>
              <a:rPr lang="en-US" altLang="zh-TW" dirty="0">
                <a:solidFill>
                  <a:srgbClr val="FF0000"/>
                </a:solidFill>
              </a:rPr>
              <a:t>(</a:t>
            </a:r>
            <a:r>
              <a:rPr lang="zh-TW" altLang="en-US" dirty="0">
                <a:solidFill>
                  <a:srgbClr val="FF0000"/>
                </a:solidFill>
              </a:rPr>
              <a:t>假設只有一位</a:t>
            </a:r>
            <a:r>
              <a:rPr lang="en-US" altLang="zh-TW" dirty="0">
                <a:solidFill>
                  <a:srgbClr val="FF0000"/>
                </a:solidFill>
              </a:rPr>
              <a:t>)</a:t>
            </a:r>
            <a:r>
              <a:rPr lang="en-US" altLang="zh-TW" dirty="0"/>
              <a:t>:</a:t>
            </a:r>
          </a:p>
          <a:p>
            <a:pPr lvl="2"/>
            <a:r>
              <a:rPr lang="zh-TW" altLang="en-US" dirty="0"/>
              <a:t>收到商家的貨物後，訂單成為已寄送</a:t>
            </a:r>
            <a:endParaRPr lang="en-US" altLang="zh-TW" dirty="0"/>
          </a:p>
          <a:p>
            <a:pPr lvl="2"/>
            <a:r>
              <a:rPr lang="zh-TW" altLang="en-US" dirty="0"/>
              <a:t>客戶收到後，訂單成為已送達</a:t>
            </a:r>
            <a:endParaRPr lang="en-US" altLang="zh-TW" dirty="0"/>
          </a:p>
          <a:p>
            <a:endParaRPr lang="en-US" altLang="zh-TW" dirty="0"/>
          </a:p>
          <a:p>
            <a:endParaRPr lang="zh-TW" altLang="en-US" dirty="0"/>
          </a:p>
        </p:txBody>
      </p:sp>
    </p:spTree>
    <p:extLst>
      <p:ext uri="{BB962C8B-B14F-4D97-AF65-F5344CB8AC3E}">
        <p14:creationId xmlns:p14="http://schemas.microsoft.com/office/powerpoint/2010/main" val="3066686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C0669AF7-5E74-4648-8E82-3F2F683FA918}"/>
              </a:ext>
            </a:extLst>
          </p:cNvPr>
          <p:cNvSpPr>
            <a:spLocks noGrp="1"/>
          </p:cNvSpPr>
          <p:nvPr>
            <p:ph type="title"/>
          </p:nvPr>
        </p:nvSpPr>
        <p:spPr/>
        <p:txBody>
          <a:bodyPr/>
          <a:lstStyle/>
          <a:p>
            <a:r>
              <a:rPr lang="en-US" altLang="zh-TW" dirty="0"/>
              <a:t>3c:</a:t>
            </a:r>
            <a:r>
              <a:rPr lang="zh-TW" altLang="en-US" dirty="0"/>
              <a:t>以</a:t>
            </a:r>
            <a:r>
              <a:rPr lang="en-US" altLang="zh-TW" dirty="0"/>
              <a:t>MVC</a:t>
            </a:r>
            <a:r>
              <a:rPr lang="zh-TW" altLang="en-US" dirty="0"/>
              <a:t>架構開發簡易線上購物網站</a:t>
            </a:r>
          </a:p>
        </p:txBody>
      </p:sp>
      <p:sp>
        <p:nvSpPr>
          <p:cNvPr id="5" name="內容版面配置區 4">
            <a:extLst>
              <a:ext uri="{FF2B5EF4-FFF2-40B4-BE49-F238E27FC236}">
                <a16:creationId xmlns:a16="http://schemas.microsoft.com/office/drawing/2014/main" id="{1B724507-E264-4D67-BB08-1DAFBE61D398}"/>
              </a:ext>
            </a:extLst>
          </p:cNvPr>
          <p:cNvSpPr>
            <a:spLocks noGrp="1"/>
          </p:cNvSpPr>
          <p:nvPr>
            <p:ph idx="1"/>
          </p:nvPr>
        </p:nvSpPr>
        <p:spPr/>
        <p:txBody>
          <a:bodyPr>
            <a:normAutofit lnSpcReduction="10000"/>
          </a:bodyPr>
          <a:lstStyle/>
          <a:p>
            <a:r>
              <a:rPr lang="zh-TW" altLang="en-US" dirty="0"/>
              <a:t>功能需求</a:t>
            </a:r>
            <a:endParaRPr lang="en-US" altLang="zh-TW" dirty="0"/>
          </a:p>
          <a:p>
            <a:pPr lvl="1"/>
            <a:r>
              <a:rPr lang="zh-TW" altLang="en-US" dirty="0"/>
              <a:t>增加廠商註冊功能，新廠商可以註冊成為使用者</a:t>
            </a:r>
            <a:endParaRPr lang="en-US" altLang="zh-TW" dirty="0"/>
          </a:p>
          <a:p>
            <a:pPr lvl="2"/>
            <a:r>
              <a:rPr lang="zh-TW" altLang="en-US" dirty="0"/>
              <a:t>系統可以有多位廠商，個別有各自帳密，與其販售商品項目</a:t>
            </a:r>
            <a:endParaRPr lang="en-US" altLang="zh-TW" dirty="0"/>
          </a:p>
          <a:p>
            <a:pPr lvl="1"/>
            <a:r>
              <a:rPr lang="zh-TW" altLang="en-US" dirty="0">
                <a:solidFill>
                  <a:srgbClr val="FF0000"/>
                </a:solidFill>
              </a:rPr>
              <a:t>客戶角色</a:t>
            </a:r>
            <a:r>
              <a:rPr lang="en-US" altLang="zh-TW" dirty="0">
                <a:solidFill>
                  <a:srgbClr val="FF0000"/>
                </a:solidFill>
              </a:rPr>
              <a:t>(</a:t>
            </a:r>
            <a:r>
              <a:rPr lang="zh-TW" altLang="en-US" dirty="0">
                <a:solidFill>
                  <a:srgbClr val="FF0000"/>
                </a:solidFill>
              </a:rPr>
              <a:t>可以有多位</a:t>
            </a:r>
            <a:r>
              <a:rPr lang="en-US" altLang="zh-TW" dirty="0">
                <a:solidFill>
                  <a:srgbClr val="FF0000"/>
                </a:solidFill>
              </a:rPr>
              <a:t>)</a:t>
            </a:r>
            <a:r>
              <a:rPr lang="en-US" altLang="zh-TW" dirty="0"/>
              <a:t>:</a:t>
            </a:r>
          </a:p>
          <a:p>
            <a:pPr lvl="2"/>
            <a:r>
              <a:rPr lang="zh-TW" altLang="en-US" dirty="0"/>
              <a:t>訂單評價滿意度</a:t>
            </a:r>
            <a:r>
              <a:rPr lang="en-US" altLang="zh-TW" dirty="0"/>
              <a:t>(1-5</a:t>
            </a:r>
            <a:r>
              <a:rPr lang="zh-TW" altLang="en-US" dirty="0"/>
              <a:t>顆星</a:t>
            </a:r>
            <a:r>
              <a:rPr lang="en-US" altLang="zh-TW" dirty="0"/>
              <a:t>)</a:t>
            </a:r>
            <a:r>
              <a:rPr lang="zh-TW" altLang="en-US" dirty="0"/>
              <a:t>，改成對個別商家的滿意度</a:t>
            </a:r>
            <a:endParaRPr lang="en-US" altLang="zh-TW" dirty="0"/>
          </a:p>
          <a:p>
            <a:pPr lvl="1"/>
            <a:r>
              <a:rPr lang="zh-TW" altLang="en-US" dirty="0">
                <a:solidFill>
                  <a:srgbClr val="FF0000"/>
                </a:solidFill>
              </a:rPr>
              <a:t>商家角色</a:t>
            </a:r>
            <a:r>
              <a:rPr lang="en-US" altLang="zh-TW" dirty="0">
                <a:solidFill>
                  <a:srgbClr val="FF0000"/>
                </a:solidFill>
              </a:rPr>
              <a:t>(</a:t>
            </a:r>
            <a:r>
              <a:rPr lang="zh-TW" altLang="en-US" dirty="0">
                <a:solidFill>
                  <a:srgbClr val="FF0000"/>
                </a:solidFill>
              </a:rPr>
              <a:t>可以有多位</a:t>
            </a:r>
            <a:r>
              <a:rPr lang="en-US" altLang="zh-TW" dirty="0">
                <a:solidFill>
                  <a:srgbClr val="FF0000"/>
                </a:solidFill>
              </a:rPr>
              <a:t>)</a:t>
            </a:r>
            <a:r>
              <a:rPr lang="en-US" altLang="zh-TW" dirty="0"/>
              <a:t>: :</a:t>
            </a:r>
          </a:p>
          <a:p>
            <a:pPr lvl="2"/>
            <a:r>
              <a:rPr lang="zh-TW" altLang="en-US" dirty="0"/>
              <a:t>商家可以看到當筆訂單中，屬於它販售的產品項目，將收到的訂單進行確認，成為處理中訂單</a:t>
            </a:r>
            <a:endParaRPr lang="en-US" altLang="zh-TW" dirty="0"/>
          </a:p>
          <a:p>
            <a:pPr lvl="2"/>
            <a:r>
              <a:rPr lang="zh-TW" altLang="en-US" dirty="0"/>
              <a:t>可以將確認過的訂單包裝出貨，成為寄送中訂單</a:t>
            </a:r>
            <a:endParaRPr lang="en-US" altLang="zh-TW" dirty="0"/>
          </a:p>
          <a:p>
            <a:pPr lvl="2"/>
            <a:r>
              <a:rPr lang="zh-TW" altLang="en-US" dirty="0">
                <a:solidFill>
                  <a:srgbClr val="FF0000"/>
                </a:solidFill>
              </a:rPr>
              <a:t>注意</a:t>
            </a:r>
            <a:r>
              <a:rPr lang="en-US" altLang="zh-TW" dirty="0">
                <a:solidFill>
                  <a:srgbClr val="FF0000"/>
                </a:solidFill>
              </a:rPr>
              <a:t>:</a:t>
            </a:r>
            <a:r>
              <a:rPr lang="zh-TW" altLang="en-US" dirty="0">
                <a:solidFill>
                  <a:srgbClr val="FF0000"/>
                </a:solidFill>
              </a:rPr>
              <a:t> 一張使用者訂單中的品項，會依不同商家，拆分成不同包裹分別寄送</a:t>
            </a:r>
            <a:r>
              <a:rPr lang="en-US" altLang="zh-TW" dirty="0">
                <a:solidFill>
                  <a:srgbClr val="FF0000"/>
                </a:solidFill>
              </a:rPr>
              <a:t>(</a:t>
            </a:r>
            <a:r>
              <a:rPr lang="zh-TW" altLang="en-US" dirty="0">
                <a:solidFill>
                  <a:srgbClr val="FF0000"/>
                </a:solidFill>
              </a:rPr>
              <a:t>邏輯上可以視為一筆訂單拆成多筆子訂單，分別寄送</a:t>
            </a:r>
            <a:r>
              <a:rPr lang="en-US" altLang="zh-TW" dirty="0">
                <a:solidFill>
                  <a:srgbClr val="FF0000"/>
                </a:solidFill>
              </a:rPr>
              <a:t>)</a:t>
            </a:r>
          </a:p>
          <a:p>
            <a:pPr lvl="1"/>
            <a:r>
              <a:rPr lang="zh-TW" altLang="en-US" dirty="0">
                <a:solidFill>
                  <a:srgbClr val="FF0000"/>
                </a:solidFill>
              </a:rPr>
              <a:t>物流角色</a:t>
            </a:r>
            <a:r>
              <a:rPr lang="en-US" altLang="zh-TW" dirty="0">
                <a:solidFill>
                  <a:srgbClr val="FF0000"/>
                </a:solidFill>
              </a:rPr>
              <a:t>(</a:t>
            </a:r>
            <a:r>
              <a:rPr lang="zh-TW" altLang="en-US" dirty="0">
                <a:solidFill>
                  <a:srgbClr val="FF0000"/>
                </a:solidFill>
              </a:rPr>
              <a:t>假設只有一位</a:t>
            </a:r>
            <a:r>
              <a:rPr lang="en-US" altLang="zh-TW" dirty="0">
                <a:solidFill>
                  <a:srgbClr val="FF0000"/>
                </a:solidFill>
              </a:rPr>
              <a:t>)</a:t>
            </a:r>
            <a:r>
              <a:rPr lang="en-US" altLang="zh-TW" dirty="0"/>
              <a:t>:</a:t>
            </a:r>
          </a:p>
          <a:p>
            <a:pPr lvl="2"/>
            <a:r>
              <a:rPr lang="zh-TW" altLang="en-US" dirty="0"/>
              <a:t>配合前述商家寄送方式的變動，進行對應調整</a:t>
            </a:r>
            <a:endParaRPr lang="en-US" altLang="zh-TW" dirty="0"/>
          </a:p>
          <a:p>
            <a:endParaRPr lang="en-US" altLang="zh-TW" dirty="0"/>
          </a:p>
          <a:p>
            <a:endParaRPr lang="zh-TW" altLang="en-US" dirty="0"/>
          </a:p>
        </p:txBody>
      </p:sp>
    </p:spTree>
    <p:extLst>
      <p:ext uri="{BB962C8B-B14F-4D97-AF65-F5344CB8AC3E}">
        <p14:creationId xmlns:p14="http://schemas.microsoft.com/office/powerpoint/2010/main" val="1944146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CE909C2-35E2-4B37-B722-6113F6A48A2A}"/>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id="{63578CCC-0553-4F67-BCDE-22A236A49A7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0"/>
            <a:ext cx="12192001" cy="6858000"/>
          </a:xfrm>
        </p:spPr>
      </p:pic>
    </p:spTree>
    <p:extLst>
      <p:ext uri="{BB962C8B-B14F-4D97-AF65-F5344CB8AC3E}">
        <p14:creationId xmlns:p14="http://schemas.microsoft.com/office/powerpoint/2010/main" val="5503547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B39AE8-EA90-4511-B4EE-AF3E9B6616FA}"/>
              </a:ext>
            </a:extLst>
          </p:cNvPr>
          <p:cNvSpPr>
            <a:spLocks noGrp="1"/>
          </p:cNvSpPr>
          <p:nvPr>
            <p:ph type="title"/>
          </p:nvPr>
        </p:nvSpPr>
        <p:spPr>
          <a:xfrm>
            <a:off x="0" y="-248333"/>
            <a:ext cx="10515600" cy="1325563"/>
          </a:xfrm>
        </p:spPr>
        <p:txBody>
          <a:bodyPr>
            <a:normAutofit/>
          </a:bodyPr>
          <a:lstStyle/>
          <a:p>
            <a:r>
              <a:rPr lang="zh-TW" altLang="en-US" b="1" dirty="0">
                <a:solidFill>
                  <a:schemeClr val="accent1">
                    <a:lumMod val="60000"/>
                    <a:lumOff val="40000"/>
                  </a:schemeClr>
                </a:solidFill>
                <a:highlight>
                  <a:srgbClr val="808080"/>
                </a:highlight>
                <a:latin typeface="標楷體" panose="03000509000000000000" pitchFamily="65" charset="-120"/>
                <a:ea typeface="標楷體" panose="03000509000000000000" pitchFamily="65" charset="-120"/>
              </a:rPr>
              <a:t>什麼是 </a:t>
            </a:r>
            <a:r>
              <a:rPr lang="en-US" altLang="zh-TW" b="1" dirty="0">
                <a:solidFill>
                  <a:schemeClr val="accent1">
                    <a:lumMod val="60000"/>
                    <a:lumOff val="40000"/>
                  </a:schemeClr>
                </a:solidFill>
                <a:highlight>
                  <a:srgbClr val="808080"/>
                </a:highlight>
                <a:latin typeface="標楷體" panose="03000509000000000000" pitchFamily="65" charset="-120"/>
                <a:ea typeface="標楷體" panose="03000509000000000000" pitchFamily="65" charset="-120"/>
              </a:rPr>
              <a:t>MVC</a:t>
            </a:r>
            <a:r>
              <a:rPr lang="zh-TW" altLang="en-US" b="1" dirty="0">
                <a:solidFill>
                  <a:schemeClr val="accent1">
                    <a:lumMod val="60000"/>
                    <a:lumOff val="40000"/>
                  </a:schemeClr>
                </a:solidFill>
                <a:highlight>
                  <a:srgbClr val="808080"/>
                </a:highlight>
                <a:latin typeface="標楷體" panose="03000509000000000000" pitchFamily="65" charset="-120"/>
                <a:ea typeface="標楷體" panose="03000509000000000000" pitchFamily="65" charset="-120"/>
              </a:rPr>
              <a:t>？</a:t>
            </a:r>
            <a:endParaRPr lang="zh-TW" altLang="en-US" dirty="0">
              <a:solidFill>
                <a:schemeClr val="accent1">
                  <a:lumMod val="60000"/>
                  <a:lumOff val="40000"/>
                </a:schemeClr>
              </a:solidFill>
              <a:highlight>
                <a:srgbClr val="808080"/>
              </a:highlight>
              <a:latin typeface="標楷體" panose="03000509000000000000" pitchFamily="65" charset="-120"/>
              <a:ea typeface="標楷體" panose="03000509000000000000" pitchFamily="65" charset="-120"/>
            </a:endParaRPr>
          </a:p>
        </p:txBody>
      </p:sp>
      <p:sp>
        <p:nvSpPr>
          <p:cNvPr id="3" name="內容版面配置區 2">
            <a:extLst>
              <a:ext uri="{FF2B5EF4-FFF2-40B4-BE49-F238E27FC236}">
                <a16:creationId xmlns:a16="http://schemas.microsoft.com/office/drawing/2014/main" id="{FF590CBA-337D-46C8-98CF-B79847AFF8C5}"/>
              </a:ext>
            </a:extLst>
          </p:cNvPr>
          <p:cNvSpPr>
            <a:spLocks noGrp="1"/>
          </p:cNvSpPr>
          <p:nvPr>
            <p:ph idx="1"/>
          </p:nvPr>
        </p:nvSpPr>
        <p:spPr>
          <a:xfrm>
            <a:off x="143718" y="876500"/>
            <a:ext cx="12048281" cy="5981499"/>
          </a:xfrm>
        </p:spPr>
        <p:txBody>
          <a:bodyPr/>
          <a:lstStyle/>
          <a:p>
            <a:r>
              <a:rPr lang="en-US" altLang="zh-TW" dirty="0">
                <a:latin typeface="標楷體" panose="03000509000000000000" pitchFamily="65" charset="-120"/>
                <a:ea typeface="標楷體" panose="03000509000000000000" pitchFamily="65" charset="-120"/>
              </a:rPr>
              <a:t>Model</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View</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Controller </a:t>
            </a:r>
            <a:r>
              <a:rPr lang="zh-TW" altLang="en-US" dirty="0">
                <a:latin typeface="標楷體" panose="03000509000000000000" pitchFamily="65" charset="-120"/>
                <a:ea typeface="標楷體" panose="03000509000000000000" pitchFamily="65" charset="-120"/>
              </a:rPr>
              <a:t>的區分，是希望能把應用程式的內部運作歸納成不同的部門，讓每個部門各自負責不同的關注點</a:t>
            </a:r>
            <a:r>
              <a:rPr lang="en-US" altLang="zh-TW" dirty="0">
                <a:latin typeface="標楷體" panose="03000509000000000000" pitchFamily="65" charset="-120"/>
                <a:ea typeface="標楷體" panose="03000509000000000000" pitchFamily="65" charset="-120"/>
              </a:rPr>
              <a:t>--separation of concerns </a:t>
            </a:r>
            <a:r>
              <a:rPr lang="zh-TW" altLang="en-US" dirty="0">
                <a:latin typeface="標楷體" panose="03000509000000000000" pitchFamily="65" charset="-120"/>
                <a:ea typeface="標楷體" panose="03000509000000000000" pitchFamily="65" charset="-120"/>
              </a:rPr>
              <a:t>。具體的行為如「把不同意義的程式碼放在不同的檔案裡」，彼此分工合作。</a:t>
            </a:r>
            <a:r>
              <a:rPr lang="en-US" altLang="zh-TW" dirty="0">
                <a:latin typeface="標楷體" panose="03000509000000000000" pitchFamily="65" charset="-120"/>
                <a:ea typeface="標楷體" panose="03000509000000000000" pitchFamily="65" charset="-120"/>
              </a:rPr>
              <a:t>(</a:t>
            </a:r>
            <a:r>
              <a:rPr lang="zh-TW" altLang="en-US" dirty="0">
                <a:solidFill>
                  <a:srgbClr val="FF0000"/>
                </a:solidFill>
                <a:latin typeface="標楷體" panose="03000509000000000000" pitchFamily="65" charset="-120"/>
                <a:ea typeface="標楷體" panose="03000509000000000000" pitchFamily="65" charset="-120"/>
              </a:rPr>
              <a:t>每一次 </a:t>
            </a:r>
            <a:r>
              <a:rPr lang="en-US" altLang="zh-TW" dirty="0">
                <a:solidFill>
                  <a:srgbClr val="FF0000"/>
                </a:solidFill>
                <a:latin typeface="標楷體" panose="03000509000000000000" pitchFamily="65" charset="-120"/>
                <a:ea typeface="標楷體" panose="03000509000000000000" pitchFamily="65" charset="-120"/>
              </a:rPr>
              <a:t>request/response </a:t>
            </a:r>
            <a:r>
              <a:rPr lang="zh-TW" altLang="en-US" dirty="0">
                <a:solidFill>
                  <a:srgbClr val="FF0000"/>
                </a:solidFill>
                <a:latin typeface="標楷體" panose="03000509000000000000" pitchFamily="65" charset="-120"/>
                <a:ea typeface="標楷體" panose="03000509000000000000" pitchFamily="65" charset="-120"/>
              </a:rPr>
              <a:t>週期的背後，都由這三大功能層來合作完成</a:t>
            </a:r>
            <a:r>
              <a:rPr lang="en-US" altLang="zh-TW" dirty="0">
                <a:latin typeface="標楷體" panose="03000509000000000000" pitchFamily="65" charset="-120"/>
                <a:ea typeface="標楷體" panose="03000509000000000000" pitchFamily="65" charset="-120"/>
              </a:rPr>
              <a:t>)</a:t>
            </a:r>
            <a:endParaRPr lang="zh-TW" altLang="en-US" dirty="0">
              <a:latin typeface="標楷體" panose="03000509000000000000" pitchFamily="65" charset="-120"/>
              <a:ea typeface="標楷體" panose="03000509000000000000" pitchFamily="65" charset="-120"/>
            </a:endParaRPr>
          </a:p>
          <a:p>
            <a:endParaRPr lang="zh-TW" altLang="en-US" dirty="0"/>
          </a:p>
        </p:txBody>
      </p:sp>
      <p:pic>
        <p:nvPicPr>
          <p:cNvPr id="5" name="圖片 4">
            <a:extLst>
              <a:ext uri="{FF2B5EF4-FFF2-40B4-BE49-F238E27FC236}">
                <a16:creationId xmlns:a16="http://schemas.microsoft.com/office/drawing/2014/main" id="{F70ABBCF-ED47-4033-B4F0-87CB69E9370A}"/>
              </a:ext>
            </a:extLst>
          </p:cNvPr>
          <p:cNvPicPr>
            <a:picLocks noChangeAspect="1"/>
          </p:cNvPicPr>
          <p:nvPr/>
        </p:nvPicPr>
        <p:blipFill>
          <a:blip r:embed="rId2"/>
          <a:stretch>
            <a:fillRect/>
          </a:stretch>
        </p:blipFill>
        <p:spPr>
          <a:xfrm>
            <a:off x="6011118" y="2428935"/>
            <a:ext cx="6180881" cy="4429065"/>
          </a:xfrm>
          <a:prstGeom prst="rect">
            <a:avLst/>
          </a:prstGeom>
        </p:spPr>
      </p:pic>
      <p:sp>
        <p:nvSpPr>
          <p:cNvPr id="6" name="矩形 5">
            <a:extLst>
              <a:ext uri="{FF2B5EF4-FFF2-40B4-BE49-F238E27FC236}">
                <a16:creationId xmlns:a16="http://schemas.microsoft.com/office/drawing/2014/main" id="{263A2FDF-2331-494C-B64F-87C31EFE4254}"/>
              </a:ext>
            </a:extLst>
          </p:cNvPr>
          <p:cNvSpPr/>
          <p:nvPr/>
        </p:nvSpPr>
        <p:spPr>
          <a:xfrm>
            <a:off x="0" y="3164680"/>
            <a:ext cx="6011118" cy="3693319"/>
          </a:xfrm>
          <a:prstGeom prst="rect">
            <a:avLst/>
          </a:prstGeom>
        </p:spPr>
        <p:txBody>
          <a:bodyPr wrap="square">
            <a:spAutoFit/>
          </a:bodyPr>
          <a:lstStyle/>
          <a:p>
            <a:r>
              <a:rPr lang="zh-TW" altLang="en-US" b="1" dirty="0">
                <a:solidFill>
                  <a:schemeClr val="tx2"/>
                </a:solidFill>
              </a:rPr>
              <a:t>簡化來說，流程可能如下：</a:t>
            </a:r>
          </a:p>
          <a:p>
            <a:endParaRPr lang="zh-TW" altLang="en-US" b="1" dirty="0">
              <a:solidFill>
                <a:schemeClr val="tx2"/>
              </a:solidFill>
            </a:endParaRPr>
          </a:p>
          <a:p>
            <a:r>
              <a:rPr lang="en-US" altLang="zh-TW" b="1" dirty="0">
                <a:solidFill>
                  <a:schemeClr val="tx2"/>
                </a:solidFill>
              </a:rPr>
              <a:t>1. </a:t>
            </a:r>
            <a:r>
              <a:rPr lang="zh-TW" altLang="en-US" b="1" dirty="0">
                <a:solidFill>
                  <a:schemeClr val="tx2"/>
                </a:solidFill>
              </a:rPr>
              <a:t>使用者與 </a:t>
            </a:r>
            <a:r>
              <a:rPr lang="en-US" altLang="zh-TW" b="1" dirty="0">
                <a:solidFill>
                  <a:schemeClr val="tx2"/>
                </a:solidFill>
              </a:rPr>
              <a:t>View </a:t>
            </a:r>
            <a:r>
              <a:rPr lang="zh-TW" altLang="en-US" b="1" dirty="0">
                <a:solidFill>
                  <a:schemeClr val="tx2"/>
                </a:solidFill>
              </a:rPr>
              <a:t>互動，觸發了一些事件，例如點擊按鈕、輸入表單等。</a:t>
            </a:r>
          </a:p>
          <a:p>
            <a:r>
              <a:rPr lang="en-US" altLang="zh-TW" b="1" dirty="0">
                <a:solidFill>
                  <a:schemeClr val="tx2"/>
                </a:solidFill>
              </a:rPr>
              <a:t>2. View </a:t>
            </a:r>
            <a:r>
              <a:rPr lang="zh-TW" altLang="en-US" b="1" dirty="0">
                <a:solidFill>
                  <a:schemeClr val="tx2"/>
                </a:solidFill>
              </a:rPr>
              <a:t>接收到這些事件，將其轉發給 </a:t>
            </a:r>
            <a:r>
              <a:rPr lang="en-US" altLang="zh-TW" b="1" dirty="0">
                <a:solidFill>
                  <a:schemeClr val="tx2"/>
                </a:solidFill>
              </a:rPr>
              <a:t>Controller</a:t>
            </a:r>
            <a:r>
              <a:rPr lang="zh-TW" altLang="en-US" b="1" dirty="0">
                <a:solidFill>
                  <a:schemeClr val="tx2"/>
                </a:solidFill>
              </a:rPr>
              <a:t>。</a:t>
            </a:r>
          </a:p>
          <a:p>
            <a:r>
              <a:rPr lang="en-US" altLang="zh-TW" b="1" dirty="0">
                <a:solidFill>
                  <a:schemeClr val="tx2"/>
                </a:solidFill>
              </a:rPr>
              <a:t>3. Controller </a:t>
            </a:r>
            <a:r>
              <a:rPr lang="zh-TW" altLang="en-US" b="1" dirty="0">
                <a:solidFill>
                  <a:schemeClr val="tx2"/>
                </a:solidFill>
              </a:rPr>
              <a:t>接收到事件後，根據應用的邏輯，可能需要從 </a:t>
            </a:r>
            <a:r>
              <a:rPr lang="en-US" altLang="zh-TW" b="1" dirty="0">
                <a:solidFill>
                  <a:schemeClr val="tx2"/>
                </a:solidFill>
              </a:rPr>
              <a:t>Model </a:t>
            </a:r>
            <a:r>
              <a:rPr lang="zh-TW" altLang="en-US" b="1" dirty="0">
                <a:solidFill>
                  <a:schemeClr val="tx2"/>
                </a:solidFill>
              </a:rPr>
              <a:t>中獲取資料。</a:t>
            </a:r>
          </a:p>
          <a:p>
            <a:r>
              <a:rPr lang="en-US" altLang="zh-TW" b="1" dirty="0">
                <a:solidFill>
                  <a:schemeClr val="tx2"/>
                </a:solidFill>
              </a:rPr>
              <a:t>4. Controller </a:t>
            </a:r>
            <a:r>
              <a:rPr lang="zh-TW" altLang="en-US" b="1" dirty="0">
                <a:solidFill>
                  <a:schemeClr val="tx2"/>
                </a:solidFill>
              </a:rPr>
              <a:t>向 </a:t>
            </a:r>
            <a:r>
              <a:rPr lang="en-US" altLang="zh-TW" b="1" dirty="0">
                <a:solidFill>
                  <a:schemeClr val="tx2"/>
                </a:solidFill>
              </a:rPr>
              <a:t>Model </a:t>
            </a:r>
            <a:r>
              <a:rPr lang="zh-TW" altLang="en-US" b="1" dirty="0">
                <a:solidFill>
                  <a:schemeClr val="tx2"/>
                </a:solidFill>
              </a:rPr>
              <a:t>發送資料獲取請求。</a:t>
            </a:r>
          </a:p>
          <a:p>
            <a:r>
              <a:rPr lang="en-US" altLang="zh-TW" b="1" dirty="0">
                <a:solidFill>
                  <a:schemeClr val="tx2"/>
                </a:solidFill>
              </a:rPr>
              <a:t>5. Model </a:t>
            </a:r>
            <a:r>
              <a:rPr lang="zh-TW" altLang="en-US" b="1" dirty="0">
                <a:solidFill>
                  <a:schemeClr val="tx2"/>
                </a:solidFill>
              </a:rPr>
              <a:t>處理請求，從數據庫、服務器或其他資料源中取得必要的資料。</a:t>
            </a:r>
          </a:p>
          <a:p>
            <a:r>
              <a:rPr lang="en-US" altLang="zh-TW" b="1" dirty="0">
                <a:solidFill>
                  <a:schemeClr val="tx2"/>
                </a:solidFill>
              </a:rPr>
              <a:t>6. Model </a:t>
            </a:r>
            <a:r>
              <a:rPr lang="zh-TW" altLang="en-US" b="1" dirty="0">
                <a:solidFill>
                  <a:schemeClr val="tx2"/>
                </a:solidFill>
              </a:rPr>
              <a:t>將獲取到的資料返回給 </a:t>
            </a:r>
            <a:r>
              <a:rPr lang="en-US" altLang="zh-TW" b="1" dirty="0">
                <a:solidFill>
                  <a:schemeClr val="tx2"/>
                </a:solidFill>
              </a:rPr>
              <a:t>Controller</a:t>
            </a:r>
            <a:r>
              <a:rPr lang="zh-TW" altLang="en-US" b="1" dirty="0">
                <a:solidFill>
                  <a:schemeClr val="tx2"/>
                </a:solidFill>
              </a:rPr>
              <a:t>。</a:t>
            </a:r>
          </a:p>
          <a:p>
            <a:r>
              <a:rPr lang="en-US" altLang="zh-TW" b="1" dirty="0">
                <a:solidFill>
                  <a:schemeClr val="tx2"/>
                </a:solidFill>
              </a:rPr>
              <a:t>7. Controller </a:t>
            </a:r>
            <a:r>
              <a:rPr lang="zh-TW" altLang="en-US" b="1" dirty="0">
                <a:solidFill>
                  <a:schemeClr val="tx2"/>
                </a:solidFill>
              </a:rPr>
              <a:t>將資料傳遞給 </a:t>
            </a:r>
            <a:r>
              <a:rPr lang="en-US" altLang="zh-TW" b="1" dirty="0">
                <a:solidFill>
                  <a:schemeClr val="tx2"/>
                </a:solidFill>
              </a:rPr>
              <a:t>View</a:t>
            </a:r>
            <a:r>
              <a:rPr lang="zh-TW" altLang="en-US" b="1" dirty="0">
                <a:solidFill>
                  <a:schemeClr val="tx2"/>
                </a:solidFill>
              </a:rPr>
              <a:t>。</a:t>
            </a:r>
          </a:p>
          <a:p>
            <a:r>
              <a:rPr lang="en-US" altLang="zh-TW" b="1" dirty="0">
                <a:solidFill>
                  <a:schemeClr val="tx2"/>
                </a:solidFill>
              </a:rPr>
              <a:t>8. View </a:t>
            </a:r>
            <a:r>
              <a:rPr lang="zh-TW" altLang="en-US" b="1" dirty="0">
                <a:solidFill>
                  <a:schemeClr val="tx2"/>
                </a:solidFill>
              </a:rPr>
              <a:t>使用這些資料更新使用者介面。</a:t>
            </a:r>
          </a:p>
        </p:txBody>
      </p:sp>
    </p:spTree>
    <p:extLst>
      <p:ext uri="{BB962C8B-B14F-4D97-AF65-F5344CB8AC3E}">
        <p14:creationId xmlns:p14="http://schemas.microsoft.com/office/powerpoint/2010/main" val="821354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D2AC4A7-9375-453E-B4ED-4BF806D50194}"/>
              </a:ext>
            </a:extLst>
          </p:cNvPr>
          <p:cNvSpPr>
            <a:spLocks noGrp="1"/>
          </p:cNvSpPr>
          <p:nvPr>
            <p:ph type="title"/>
          </p:nvPr>
        </p:nvSpPr>
        <p:spPr>
          <a:xfrm>
            <a:off x="960120" y="304165"/>
            <a:ext cx="9326880" cy="701675"/>
          </a:xfrm>
        </p:spPr>
        <p:txBody>
          <a:bodyPr>
            <a:noAutofit/>
          </a:bodyPr>
          <a:lstStyle/>
          <a:p>
            <a:r>
              <a:rPr lang="en-US" altLang="zh-TW" sz="3600" dirty="0">
                <a:solidFill>
                  <a:schemeClr val="accent1">
                    <a:lumMod val="60000"/>
                    <a:lumOff val="40000"/>
                  </a:schemeClr>
                </a:solidFill>
                <a:effectLst>
                  <a:outerShdw blurRad="38100" dist="38100" dir="2700000" algn="tl">
                    <a:srgbClr val="000000">
                      <a:alpha val="43137"/>
                    </a:srgbClr>
                  </a:outerShdw>
                </a:effectLst>
                <a:latin typeface="標楷體" panose="03000509000000000000" pitchFamily="65" charset="-120"/>
                <a:ea typeface="標楷體" panose="03000509000000000000" pitchFamily="65" charset="-120"/>
              </a:rPr>
              <a:t>MVC</a:t>
            </a:r>
            <a:r>
              <a:rPr lang="zh-TW" altLang="en-US" sz="3600" dirty="0">
                <a:solidFill>
                  <a:schemeClr val="accent1">
                    <a:lumMod val="60000"/>
                    <a:lumOff val="40000"/>
                  </a:schemeClr>
                </a:solidFill>
                <a:effectLst>
                  <a:outerShdw blurRad="38100" dist="38100" dir="2700000" algn="tl">
                    <a:srgbClr val="000000">
                      <a:alpha val="43137"/>
                    </a:srgbClr>
                  </a:outerShdw>
                </a:effectLst>
                <a:latin typeface="標楷體" panose="03000509000000000000" pitchFamily="65" charset="-120"/>
                <a:ea typeface="標楷體" panose="03000509000000000000" pitchFamily="65" charset="-120"/>
              </a:rPr>
              <a:t>架構中，</a:t>
            </a:r>
            <a:r>
              <a:rPr lang="en-US" altLang="zh-TW" sz="3600" dirty="0">
                <a:solidFill>
                  <a:schemeClr val="accent1">
                    <a:lumMod val="60000"/>
                    <a:lumOff val="40000"/>
                  </a:schemeClr>
                </a:solidFill>
                <a:effectLst>
                  <a:outerShdw blurRad="38100" dist="38100" dir="2700000" algn="tl">
                    <a:srgbClr val="000000">
                      <a:alpha val="43137"/>
                    </a:srgbClr>
                  </a:outerShdw>
                </a:effectLst>
                <a:latin typeface="標楷體" panose="03000509000000000000" pitchFamily="65" charset="-120"/>
                <a:ea typeface="標楷體" panose="03000509000000000000" pitchFamily="65" charset="-120"/>
              </a:rPr>
              <a:t>Controller</a:t>
            </a:r>
            <a:r>
              <a:rPr lang="zh-TW" altLang="en-US" sz="3600" dirty="0">
                <a:solidFill>
                  <a:schemeClr val="accent1">
                    <a:lumMod val="60000"/>
                    <a:lumOff val="40000"/>
                  </a:schemeClr>
                </a:solidFill>
                <a:effectLst>
                  <a:outerShdw blurRad="38100" dist="38100" dir="2700000" algn="tl">
                    <a:srgbClr val="000000">
                      <a:alpha val="43137"/>
                    </a:srgbClr>
                  </a:outerShdw>
                </a:effectLst>
                <a:latin typeface="標楷體" panose="03000509000000000000" pitchFamily="65" charset="-120"/>
                <a:ea typeface="標楷體" panose="03000509000000000000" pitchFamily="65" charset="-120"/>
              </a:rPr>
              <a:t>、</a:t>
            </a:r>
            <a:r>
              <a:rPr lang="en-US" altLang="zh-TW" sz="3600" dirty="0">
                <a:solidFill>
                  <a:schemeClr val="accent1">
                    <a:lumMod val="60000"/>
                    <a:lumOff val="40000"/>
                  </a:schemeClr>
                </a:solidFill>
                <a:effectLst>
                  <a:outerShdw blurRad="38100" dist="38100" dir="2700000" algn="tl">
                    <a:srgbClr val="000000">
                      <a:alpha val="43137"/>
                    </a:srgbClr>
                  </a:outerShdw>
                </a:effectLst>
                <a:latin typeface="標楷體" panose="03000509000000000000" pitchFamily="65" charset="-120"/>
                <a:ea typeface="標楷體" panose="03000509000000000000" pitchFamily="65" charset="-120"/>
              </a:rPr>
              <a:t>Model</a:t>
            </a:r>
            <a:r>
              <a:rPr lang="zh-TW" altLang="en-US" sz="3600" dirty="0">
                <a:solidFill>
                  <a:schemeClr val="accent1">
                    <a:lumMod val="60000"/>
                    <a:lumOff val="40000"/>
                  </a:schemeClr>
                </a:solidFill>
                <a:effectLst>
                  <a:outerShdw blurRad="38100" dist="38100" dir="2700000" algn="tl">
                    <a:srgbClr val="000000">
                      <a:alpha val="43137"/>
                    </a:srgbClr>
                  </a:outerShdw>
                </a:effectLst>
                <a:latin typeface="標楷體" panose="03000509000000000000" pitchFamily="65" charset="-120"/>
                <a:ea typeface="標楷體" panose="03000509000000000000" pitchFamily="65" charset="-120"/>
              </a:rPr>
              <a:t>和</a:t>
            </a:r>
            <a:r>
              <a:rPr lang="en-US" altLang="zh-TW" sz="3600" dirty="0">
                <a:solidFill>
                  <a:schemeClr val="accent1">
                    <a:lumMod val="60000"/>
                    <a:lumOff val="40000"/>
                  </a:schemeClr>
                </a:solidFill>
                <a:effectLst>
                  <a:outerShdw blurRad="38100" dist="38100" dir="2700000" algn="tl">
                    <a:srgbClr val="000000">
                      <a:alpha val="43137"/>
                    </a:srgbClr>
                  </a:outerShdw>
                </a:effectLst>
                <a:latin typeface="標楷體" panose="03000509000000000000" pitchFamily="65" charset="-120"/>
                <a:ea typeface="標楷體" panose="03000509000000000000" pitchFamily="65" charset="-120"/>
              </a:rPr>
              <a:t>View</a:t>
            </a:r>
            <a:r>
              <a:rPr lang="zh-TW" altLang="en-US" sz="3600" dirty="0">
                <a:solidFill>
                  <a:schemeClr val="accent1">
                    <a:lumMod val="60000"/>
                    <a:lumOff val="40000"/>
                  </a:schemeClr>
                </a:solidFill>
                <a:effectLst>
                  <a:outerShdw blurRad="38100" dist="38100" dir="2700000" algn="tl">
                    <a:srgbClr val="000000">
                      <a:alpha val="43137"/>
                    </a:srgbClr>
                  </a:outerShdw>
                </a:effectLst>
                <a:latin typeface="標楷體" panose="03000509000000000000" pitchFamily="65" charset="-120"/>
                <a:ea typeface="標楷體" panose="03000509000000000000" pitchFamily="65" charset="-120"/>
              </a:rPr>
              <a:t>之間是相互關聯的，並彼此合作達成目標。</a:t>
            </a:r>
          </a:p>
        </p:txBody>
      </p:sp>
      <p:sp>
        <p:nvSpPr>
          <p:cNvPr id="3" name="內容版面配置區 2">
            <a:extLst>
              <a:ext uri="{FF2B5EF4-FFF2-40B4-BE49-F238E27FC236}">
                <a16:creationId xmlns:a16="http://schemas.microsoft.com/office/drawing/2014/main" id="{DFA51196-963F-4E08-97C7-B9B56DB549CD}"/>
              </a:ext>
            </a:extLst>
          </p:cNvPr>
          <p:cNvSpPr>
            <a:spLocks noGrp="1"/>
          </p:cNvSpPr>
          <p:nvPr>
            <p:ph idx="1"/>
          </p:nvPr>
        </p:nvSpPr>
        <p:spPr>
          <a:xfrm>
            <a:off x="0" y="1341120"/>
            <a:ext cx="12192000" cy="5745480"/>
          </a:xfrm>
        </p:spPr>
        <p:txBody>
          <a:bodyPr>
            <a:normAutofit fontScale="92500" lnSpcReduction="10000"/>
          </a:bodyPr>
          <a:lstStyle/>
          <a:p>
            <a:r>
              <a:rPr lang="en-US" altLang="zh-TW" b="1" dirty="0"/>
              <a:t>Model</a:t>
            </a:r>
            <a:r>
              <a:rPr lang="zh-TW" altLang="en-US" b="1" dirty="0"/>
              <a:t>：</a:t>
            </a:r>
            <a:r>
              <a:rPr lang="zh-TW" altLang="en-US" dirty="0">
                <a:latin typeface="標楷體" panose="03000509000000000000" pitchFamily="65" charset="-120"/>
                <a:ea typeface="標楷體" panose="03000509000000000000" pitchFamily="65" charset="-120"/>
              </a:rPr>
              <a:t>代表應用程序的數據層。負責處理數據的邏輯，如存儲、檢索、更新和刪除。</a:t>
            </a:r>
            <a:endParaRPr lang="en-US" altLang="zh-TW" dirty="0">
              <a:latin typeface="標楷體" panose="03000509000000000000" pitchFamily="65" charset="-120"/>
              <a:ea typeface="標楷體" panose="03000509000000000000" pitchFamily="65" charset="-120"/>
            </a:endParaRPr>
          </a:p>
          <a:p>
            <a:endParaRPr lang="zh-TW" altLang="en-US" dirty="0">
              <a:latin typeface="標楷體" panose="03000509000000000000" pitchFamily="65" charset="-120"/>
              <a:ea typeface="標楷體" panose="03000509000000000000" pitchFamily="65" charset="-120"/>
            </a:endParaRPr>
          </a:p>
          <a:p>
            <a:r>
              <a:rPr lang="en-US" altLang="zh-TW" b="1" dirty="0"/>
              <a:t>View</a:t>
            </a:r>
            <a:r>
              <a:rPr lang="zh-TW" altLang="en-US" b="1" dirty="0"/>
              <a:t>：</a:t>
            </a:r>
            <a:r>
              <a:rPr lang="zh-TW" altLang="en-US" dirty="0">
                <a:latin typeface="標楷體" panose="03000509000000000000" pitchFamily="65" charset="-120"/>
                <a:ea typeface="標楷體" panose="03000509000000000000" pitchFamily="65" charset="-120"/>
              </a:rPr>
              <a:t>代表用戶界面的部分。它負責呈現數據給用戶並接收用戶的輸入。</a:t>
            </a:r>
            <a:endParaRPr lang="en-US" altLang="zh-TW" dirty="0">
              <a:latin typeface="標楷體" panose="03000509000000000000" pitchFamily="65" charset="-120"/>
              <a:ea typeface="標楷體" panose="03000509000000000000" pitchFamily="65" charset="-120"/>
            </a:endParaRPr>
          </a:p>
          <a:p>
            <a:endParaRPr lang="zh-TW" altLang="en-US" dirty="0">
              <a:latin typeface="標楷體" panose="03000509000000000000" pitchFamily="65" charset="-120"/>
              <a:ea typeface="標楷體" panose="03000509000000000000" pitchFamily="65" charset="-120"/>
            </a:endParaRPr>
          </a:p>
          <a:p>
            <a:r>
              <a:rPr lang="en-US" altLang="zh-TW" b="1" dirty="0"/>
              <a:t>Controller</a:t>
            </a:r>
            <a:r>
              <a:rPr lang="zh-TW" altLang="en-US" b="1" dirty="0"/>
              <a:t>：</a:t>
            </a:r>
            <a:r>
              <a:rPr lang="zh-TW" altLang="en-US" dirty="0">
                <a:latin typeface="標楷體" panose="03000509000000000000" pitchFamily="65" charset="-120"/>
                <a:ea typeface="標楷體" panose="03000509000000000000" pitchFamily="65" charset="-120"/>
              </a:rPr>
              <a:t>處理用戶輸入並協調模型和視圖之間的操作。它接用戶的請求，根據請求更新模型或視圖，然後將結果返回給用戶。</a:t>
            </a:r>
            <a:endParaRPr lang="en-US" altLang="zh-TW" dirty="0">
              <a:latin typeface="標楷體" panose="03000509000000000000" pitchFamily="65" charset="-120"/>
              <a:ea typeface="標楷體" panose="03000509000000000000" pitchFamily="65" charset="-120"/>
            </a:endParaRPr>
          </a:p>
          <a:p>
            <a:endParaRPr lang="en-US" altLang="zh-TW" dirty="0">
              <a:latin typeface="標楷體" panose="03000509000000000000" pitchFamily="65" charset="-120"/>
              <a:ea typeface="標楷體" panose="03000509000000000000" pitchFamily="65" charset="-120"/>
            </a:endParaRPr>
          </a:p>
          <a:p>
            <a:r>
              <a:rPr lang="en-US" altLang="zh-TW" b="1" dirty="0"/>
              <a:t>Vue.js</a:t>
            </a:r>
            <a:r>
              <a:rPr lang="zh-TW" altLang="en-US" b="1" dirty="0"/>
              <a:t>：</a:t>
            </a:r>
            <a:r>
              <a:rPr lang="zh-TW" altLang="en-US" dirty="0">
                <a:latin typeface="標楷體" panose="03000509000000000000" pitchFamily="65" charset="-120"/>
                <a:ea typeface="標楷體" panose="03000509000000000000" pitchFamily="65" charset="-120"/>
              </a:rPr>
              <a:t>它是一個用於構建單頁應用程序（</a:t>
            </a:r>
            <a:r>
              <a:rPr lang="en-US" altLang="zh-TW" dirty="0">
                <a:latin typeface="標楷體" panose="03000509000000000000" pitchFamily="65" charset="-120"/>
                <a:ea typeface="標楷體" panose="03000509000000000000" pitchFamily="65" charset="-120"/>
              </a:rPr>
              <a:t>SPA</a:t>
            </a:r>
            <a:r>
              <a:rPr lang="zh-TW" altLang="en-US" dirty="0">
                <a:latin typeface="標楷體" panose="03000509000000000000" pitchFamily="65" charset="-120"/>
                <a:ea typeface="標楷體" panose="03000509000000000000" pitchFamily="65" charset="-120"/>
              </a:rPr>
              <a:t>）的框架，它允許你使用可重用組件化的方式構建應用程序界面，並提供數據繫結、狀態管理等功能。使你能夠更容易地處理用戶界面。</a:t>
            </a:r>
            <a:endParaRPr lang="en-US" altLang="zh-TW" dirty="0">
              <a:latin typeface="標楷體" panose="03000509000000000000" pitchFamily="65" charset="-120"/>
              <a:ea typeface="標楷體" panose="03000509000000000000" pitchFamily="65" charset="-120"/>
            </a:endParaRPr>
          </a:p>
          <a:p>
            <a:pPr marL="0" indent="0">
              <a:buNone/>
            </a:pPr>
            <a:endParaRPr lang="en-US" altLang="zh-TW" dirty="0">
              <a:latin typeface="標楷體" panose="03000509000000000000" pitchFamily="65" charset="-120"/>
              <a:ea typeface="標楷體" panose="03000509000000000000" pitchFamily="65" charset="-120"/>
            </a:endParaRPr>
          </a:p>
          <a:p>
            <a:r>
              <a:rPr lang="en-US" altLang="zh-TW" b="1" dirty="0"/>
              <a:t>Ajax</a:t>
            </a:r>
            <a:r>
              <a:rPr lang="zh-TW" altLang="en-US" b="1" dirty="0"/>
              <a:t>：</a:t>
            </a:r>
            <a:r>
              <a:rPr lang="zh-TW" altLang="en-US" dirty="0">
                <a:latin typeface="標楷體" panose="03000509000000000000" pitchFamily="65" charset="-120"/>
                <a:ea typeface="標楷體" panose="03000509000000000000" pitchFamily="65" charset="-120"/>
              </a:rPr>
              <a:t>是一種用於在不需要重新加載整個網頁的情況下從服務器獲取數據的技術。它通常用於向服務器發送請求並處理響應。</a:t>
            </a:r>
          </a:p>
          <a:p>
            <a:endParaRPr lang="zh-TW" altLang="en-US" dirty="0"/>
          </a:p>
        </p:txBody>
      </p:sp>
    </p:spTree>
    <p:extLst>
      <p:ext uri="{BB962C8B-B14F-4D97-AF65-F5344CB8AC3E}">
        <p14:creationId xmlns:p14="http://schemas.microsoft.com/office/powerpoint/2010/main" val="2543161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F04E2D-2BF7-45AC-A49B-ED162460DC33}"/>
              </a:ext>
            </a:extLst>
          </p:cNvPr>
          <p:cNvSpPr>
            <a:spLocks noGrp="1"/>
          </p:cNvSpPr>
          <p:nvPr>
            <p:ph type="title"/>
          </p:nvPr>
        </p:nvSpPr>
        <p:spPr>
          <a:xfrm>
            <a:off x="0" y="-236388"/>
            <a:ext cx="1226916" cy="1325563"/>
          </a:xfrm>
        </p:spPr>
        <p:txBody>
          <a:bodyPr>
            <a:normAutofit/>
          </a:bodyPr>
          <a:lstStyle/>
          <a:p>
            <a:r>
              <a:rPr lang="en-US" altLang="zh-TW" sz="4000" dirty="0">
                <a:solidFill>
                  <a:schemeClr val="accent5">
                    <a:lumMod val="75000"/>
                  </a:schemeClr>
                </a:solidFill>
              </a:rPr>
              <a:t>(</a:t>
            </a:r>
            <a:r>
              <a:rPr lang="zh-TW" altLang="en-US" sz="4000" dirty="0">
                <a:solidFill>
                  <a:schemeClr val="accent5">
                    <a:lumMod val="75000"/>
                  </a:schemeClr>
                </a:solidFill>
              </a:rPr>
              <a:t>續</a:t>
            </a:r>
            <a:r>
              <a:rPr lang="en-US" altLang="zh-TW" sz="4000" dirty="0">
                <a:solidFill>
                  <a:schemeClr val="accent5">
                    <a:lumMod val="75000"/>
                  </a:schemeClr>
                </a:solidFill>
              </a:rPr>
              <a:t>)</a:t>
            </a:r>
            <a:endParaRPr lang="zh-TW" altLang="en-US" sz="4000" dirty="0">
              <a:solidFill>
                <a:schemeClr val="accent5">
                  <a:lumMod val="75000"/>
                </a:schemeClr>
              </a:solidFill>
            </a:endParaRPr>
          </a:p>
        </p:txBody>
      </p:sp>
      <p:sp>
        <p:nvSpPr>
          <p:cNvPr id="3" name="內容版面配置區 2">
            <a:extLst>
              <a:ext uri="{FF2B5EF4-FFF2-40B4-BE49-F238E27FC236}">
                <a16:creationId xmlns:a16="http://schemas.microsoft.com/office/drawing/2014/main" id="{A5CFD341-E9E7-48FA-94BF-DF1664B88261}"/>
              </a:ext>
            </a:extLst>
          </p:cNvPr>
          <p:cNvSpPr>
            <a:spLocks noGrp="1"/>
          </p:cNvSpPr>
          <p:nvPr>
            <p:ph idx="1"/>
          </p:nvPr>
        </p:nvSpPr>
        <p:spPr>
          <a:xfrm>
            <a:off x="0" y="729206"/>
            <a:ext cx="12192000" cy="6128794"/>
          </a:xfrm>
        </p:spPr>
        <p:txBody>
          <a:bodyPr/>
          <a:lstStyle/>
          <a:p>
            <a:pPr marL="0" indent="0">
              <a:buNone/>
            </a:pPr>
            <a:r>
              <a:rPr lang="en-US" altLang="zh-TW" b="1" dirty="0"/>
              <a:t>Model(</a:t>
            </a:r>
            <a:r>
              <a:rPr lang="zh-TW" altLang="en-US" b="1" dirty="0"/>
              <a:t>模組</a:t>
            </a:r>
            <a:r>
              <a:rPr lang="en-US" altLang="zh-TW" b="1" dirty="0"/>
              <a:t>)</a:t>
            </a:r>
            <a:r>
              <a:rPr lang="zh-TW" altLang="en-US" b="1" dirty="0"/>
              <a:t>：</a:t>
            </a:r>
            <a:r>
              <a:rPr lang="zh-TW" altLang="en-US" dirty="0">
                <a:latin typeface="標楷體" panose="03000509000000000000" pitchFamily="65" charset="-120"/>
                <a:ea typeface="標楷體" panose="03000509000000000000" pitchFamily="65" charset="-120"/>
              </a:rPr>
              <a:t>處理應用程式的</a:t>
            </a:r>
            <a:r>
              <a:rPr lang="zh-TW" altLang="en-US" dirty="0">
                <a:solidFill>
                  <a:srgbClr val="FF0000"/>
                </a:solidFill>
                <a:latin typeface="標楷體" panose="03000509000000000000" pitchFamily="65" charset="-120"/>
                <a:ea typeface="標楷體" panose="03000509000000000000" pitchFamily="65" charset="-120"/>
              </a:rPr>
              <a:t>數據和業務邏輯</a:t>
            </a:r>
            <a:r>
              <a:rPr lang="zh-TW" altLang="en-US" dirty="0">
                <a:latin typeface="標楷體" panose="03000509000000000000" pitchFamily="65" charset="-120"/>
                <a:ea typeface="標楷體" panose="03000509000000000000" pitchFamily="65" charset="-120"/>
              </a:rPr>
              <a:t>。它負責</a:t>
            </a:r>
            <a:r>
              <a:rPr lang="zh-TW" altLang="en-US" dirty="0">
                <a:solidFill>
                  <a:srgbClr val="FF0000"/>
                </a:solidFill>
                <a:latin typeface="標楷體" panose="03000509000000000000" pitchFamily="65" charset="-120"/>
                <a:ea typeface="標楷體" panose="03000509000000000000" pitchFamily="65" charset="-120"/>
              </a:rPr>
              <a:t>管理</a:t>
            </a:r>
            <a:r>
              <a:rPr lang="zh-TW" altLang="en-US" dirty="0">
                <a:latin typeface="標楷體" panose="03000509000000000000" pitchFamily="65" charset="-120"/>
                <a:ea typeface="標楷體" panose="03000509000000000000" pitchFamily="65" charset="-120"/>
              </a:rPr>
              <a:t>和</a:t>
            </a:r>
            <a:r>
              <a:rPr lang="zh-TW" altLang="en-US" dirty="0">
                <a:solidFill>
                  <a:srgbClr val="FF0000"/>
                </a:solidFill>
                <a:latin typeface="標楷體" panose="03000509000000000000" pitchFamily="65" charset="-120"/>
                <a:ea typeface="標楷體" panose="03000509000000000000" pitchFamily="65" charset="-120"/>
              </a:rPr>
              <a:t>維護</a:t>
            </a:r>
            <a:r>
              <a:rPr lang="zh-TW" altLang="en-US" dirty="0">
                <a:latin typeface="標楷體" panose="03000509000000000000" pitchFamily="65" charset="-120"/>
                <a:ea typeface="標楷體" panose="03000509000000000000" pitchFamily="65" charset="-120"/>
              </a:rPr>
              <a:t>應用程式的數據，包括從數據庫讀取數據、更新數據以及處理數據的相關業務邏輯。</a:t>
            </a:r>
            <a:r>
              <a:rPr lang="en-US" altLang="zh-TW" dirty="0">
                <a:latin typeface="標楷體" panose="03000509000000000000" pitchFamily="65" charset="-120"/>
                <a:ea typeface="標楷體" panose="03000509000000000000" pitchFamily="65" charset="-120"/>
              </a:rPr>
              <a:t>Model</a:t>
            </a:r>
            <a:r>
              <a:rPr lang="zh-TW" altLang="en-US" dirty="0">
                <a:solidFill>
                  <a:srgbClr val="FF0000"/>
                </a:solidFill>
                <a:latin typeface="標楷體" panose="03000509000000000000" pitchFamily="65" charset="-120"/>
                <a:ea typeface="標楷體" panose="03000509000000000000" pitchFamily="65" charset="-120"/>
              </a:rPr>
              <a:t>不知道</a:t>
            </a:r>
            <a:r>
              <a:rPr lang="en-US" altLang="zh-TW" dirty="0">
                <a:latin typeface="標楷體" panose="03000509000000000000" pitchFamily="65" charset="-120"/>
                <a:ea typeface="標楷體" panose="03000509000000000000" pitchFamily="65" charset="-120"/>
              </a:rPr>
              <a:t>View</a:t>
            </a:r>
            <a:r>
              <a:rPr lang="zh-TW" altLang="en-US" dirty="0">
                <a:latin typeface="標楷體" panose="03000509000000000000" pitchFamily="65" charset="-120"/>
                <a:ea typeface="標楷體" panose="03000509000000000000" pitchFamily="65" charset="-120"/>
              </a:rPr>
              <a:t>或</a:t>
            </a:r>
            <a:r>
              <a:rPr lang="en-US" altLang="zh-TW" dirty="0">
                <a:latin typeface="標楷體" panose="03000509000000000000" pitchFamily="65" charset="-120"/>
                <a:ea typeface="標楷體" panose="03000509000000000000" pitchFamily="65" charset="-120"/>
              </a:rPr>
              <a:t>Controller</a:t>
            </a:r>
            <a:r>
              <a:rPr lang="zh-TW" altLang="en-US" dirty="0">
                <a:latin typeface="標楷體" panose="03000509000000000000" pitchFamily="65" charset="-120"/>
                <a:ea typeface="標楷體" panose="03000509000000000000" pitchFamily="65" charset="-120"/>
              </a:rPr>
              <a:t>的存在，這使其成為</a:t>
            </a:r>
            <a:r>
              <a:rPr lang="zh-TW" altLang="en-US" dirty="0">
                <a:solidFill>
                  <a:srgbClr val="FF0000"/>
                </a:solidFill>
                <a:latin typeface="標楷體" panose="03000509000000000000" pitchFamily="65" charset="-120"/>
                <a:ea typeface="標楷體" panose="03000509000000000000" pitchFamily="65" charset="-120"/>
              </a:rPr>
              <a:t>獨立</a:t>
            </a:r>
            <a:r>
              <a:rPr lang="zh-TW" altLang="en-US" dirty="0">
                <a:latin typeface="標楷體" panose="03000509000000000000" pitchFamily="65" charset="-120"/>
                <a:ea typeface="標楷體" panose="03000509000000000000" pitchFamily="65" charset="-120"/>
              </a:rPr>
              <a:t>的部分。</a:t>
            </a:r>
            <a:endParaRPr lang="en-US" altLang="zh-TW" dirty="0">
              <a:latin typeface="標楷體" panose="03000509000000000000" pitchFamily="65" charset="-120"/>
              <a:ea typeface="標楷體" panose="03000509000000000000" pitchFamily="65" charset="-120"/>
            </a:endParaRPr>
          </a:p>
          <a:p>
            <a:pPr marL="0" indent="0">
              <a:buNone/>
            </a:pPr>
            <a:r>
              <a:rPr lang="en-US" altLang="zh-TW" b="1" dirty="0"/>
              <a:t>View(</a:t>
            </a:r>
            <a:r>
              <a:rPr lang="zh-TW" altLang="en-US" b="1" dirty="0"/>
              <a:t>視圖</a:t>
            </a:r>
            <a:r>
              <a:rPr lang="en-US" altLang="zh-TW" b="1" dirty="0"/>
              <a:t>)</a:t>
            </a:r>
            <a:r>
              <a:rPr lang="zh-TW" altLang="en-US" b="1" dirty="0"/>
              <a:t>：</a:t>
            </a:r>
            <a:r>
              <a:rPr lang="en-US" altLang="zh-TW" dirty="0">
                <a:latin typeface="標楷體" panose="03000509000000000000" pitchFamily="65" charset="-120"/>
                <a:ea typeface="標楷體" panose="03000509000000000000" pitchFamily="65" charset="-120"/>
              </a:rPr>
              <a:t>View</a:t>
            </a:r>
            <a:r>
              <a:rPr lang="zh-TW" altLang="en-US" dirty="0">
                <a:latin typeface="標楷體" panose="03000509000000000000" pitchFamily="65" charset="-120"/>
                <a:ea typeface="標楷體" panose="03000509000000000000" pitchFamily="65" charset="-120"/>
              </a:rPr>
              <a:t>負責</a:t>
            </a:r>
            <a:r>
              <a:rPr lang="zh-TW" altLang="en-US" dirty="0">
                <a:solidFill>
                  <a:srgbClr val="FF0000"/>
                </a:solidFill>
                <a:latin typeface="標楷體" panose="03000509000000000000" pitchFamily="65" charset="-120"/>
                <a:ea typeface="標楷體" panose="03000509000000000000" pitchFamily="65" charset="-120"/>
              </a:rPr>
              <a:t>展示</a:t>
            </a:r>
            <a:r>
              <a:rPr lang="en-US" altLang="zh-TW" dirty="0">
                <a:solidFill>
                  <a:srgbClr val="FF0000"/>
                </a:solidFill>
                <a:latin typeface="標楷體" panose="03000509000000000000" pitchFamily="65" charset="-120"/>
                <a:ea typeface="標楷體" panose="03000509000000000000" pitchFamily="65" charset="-120"/>
              </a:rPr>
              <a:t>Model</a:t>
            </a:r>
            <a:r>
              <a:rPr lang="zh-TW" altLang="en-US" dirty="0">
                <a:solidFill>
                  <a:srgbClr val="FF0000"/>
                </a:solidFill>
                <a:latin typeface="標楷體" panose="03000509000000000000" pitchFamily="65" charset="-120"/>
                <a:ea typeface="標楷體" panose="03000509000000000000" pitchFamily="65" charset="-120"/>
              </a:rPr>
              <a:t>中的數據給用戶</a:t>
            </a:r>
            <a:r>
              <a:rPr lang="zh-TW" altLang="en-US" dirty="0">
                <a:latin typeface="標楷體" panose="03000509000000000000" pitchFamily="65" charset="-120"/>
                <a:ea typeface="標楷體" panose="03000509000000000000" pitchFamily="65" charset="-120"/>
              </a:rPr>
              <a:t>，以</a:t>
            </a:r>
            <a:r>
              <a:rPr lang="zh-TW" altLang="en-US" dirty="0">
                <a:solidFill>
                  <a:srgbClr val="FF0000"/>
                </a:solidFill>
                <a:latin typeface="標楷體" panose="03000509000000000000" pitchFamily="65" charset="-120"/>
                <a:ea typeface="標楷體" panose="03000509000000000000" pitchFamily="65" charset="-120"/>
              </a:rPr>
              <a:t>視覺</a:t>
            </a:r>
            <a:r>
              <a:rPr lang="zh-TW" altLang="en-US" dirty="0">
                <a:latin typeface="標楷體" panose="03000509000000000000" pitchFamily="65" charset="-120"/>
                <a:ea typeface="標楷體" panose="03000509000000000000" pitchFamily="65" charset="-120"/>
              </a:rPr>
              <a:t>方式呈現。它可以是網頁頁面、應用程式的使用者界面元素或其他類似的東西。</a:t>
            </a:r>
            <a:r>
              <a:rPr lang="en-US" altLang="zh-TW" dirty="0">
                <a:latin typeface="標楷體" panose="03000509000000000000" pitchFamily="65" charset="-120"/>
                <a:ea typeface="標楷體" panose="03000509000000000000" pitchFamily="65" charset="-120"/>
              </a:rPr>
              <a:t>View</a:t>
            </a:r>
            <a:r>
              <a:rPr lang="zh-TW" altLang="en-US" dirty="0">
                <a:latin typeface="標楷體" panose="03000509000000000000" pitchFamily="65" charset="-120"/>
                <a:ea typeface="標楷體" panose="03000509000000000000" pitchFamily="65" charset="-120"/>
              </a:rPr>
              <a:t>可以顯示</a:t>
            </a:r>
            <a:r>
              <a:rPr lang="en-US" altLang="zh-TW" dirty="0">
                <a:latin typeface="標楷體" panose="03000509000000000000" pitchFamily="65" charset="-120"/>
                <a:ea typeface="標楷體" panose="03000509000000000000" pitchFamily="65" charset="-120"/>
              </a:rPr>
              <a:t>Model</a:t>
            </a:r>
            <a:r>
              <a:rPr lang="zh-TW" altLang="en-US" dirty="0">
                <a:latin typeface="標楷體" panose="03000509000000000000" pitchFamily="65" charset="-120"/>
                <a:ea typeface="標楷體" panose="03000509000000000000" pitchFamily="65" charset="-120"/>
              </a:rPr>
              <a:t>的數據，但通常</a:t>
            </a:r>
            <a:r>
              <a:rPr lang="zh-TW" altLang="en-US" dirty="0">
                <a:solidFill>
                  <a:srgbClr val="FF0000"/>
                </a:solidFill>
                <a:latin typeface="標楷體" panose="03000509000000000000" pitchFamily="65" charset="-120"/>
                <a:ea typeface="標楷體" panose="03000509000000000000" pitchFamily="65" charset="-120"/>
              </a:rPr>
              <a:t>不直接</a:t>
            </a:r>
            <a:r>
              <a:rPr lang="zh-TW" altLang="en-US" dirty="0">
                <a:latin typeface="標楷體" panose="03000509000000000000" pitchFamily="65" charset="-120"/>
                <a:ea typeface="標楷體" panose="03000509000000000000" pitchFamily="65" charset="-120"/>
              </a:rPr>
              <a:t>從</a:t>
            </a:r>
            <a:r>
              <a:rPr lang="en-US" altLang="zh-TW" dirty="0">
                <a:latin typeface="標楷體" panose="03000509000000000000" pitchFamily="65" charset="-120"/>
                <a:ea typeface="標楷體" panose="03000509000000000000" pitchFamily="65" charset="-120"/>
              </a:rPr>
              <a:t>Model</a:t>
            </a:r>
            <a:r>
              <a:rPr lang="zh-TW" altLang="en-US" dirty="0">
                <a:latin typeface="標楷體" panose="03000509000000000000" pitchFamily="65" charset="-120"/>
                <a:ea typeface="標楷體" panose="03000509000000000000" pitchFamily="65" charset="-120"/>
              </a:rPr>
              <a:t>中讀取數據，而是</a:t>
            </a:r>
            <a:r>
              <a:rPr lang="zh-TW" altLang="en-US" dirty="0">
                <a:solidFill>
                  <a:srgbClr val="FF0000"/>
                </a:solidFill>
                <a:latin typeface="標楷體" panose="03000509000000000000" pitchFamily="65" charset="-120"/>
                <a:ea typeface="標楷體" panose="03000509000000000000" pitchFamily="65" charset="-120"/>
              </a:rPr>
              <a:t>透過</a:t>
            </a:r>
            <a:r>
              <a:rPr lang="en-US" altLang="zh-TW" dirty="0">
                <a:solidFill>
                  <a:srgbClr val="FF0000"/>
                </a:solidFill>
                <a:latin typeface="標楷體" panose="03000509000000000000" pitchFamily="65" charset="-120"/>
                <a:ea typeface="標楷體" panose="03000509000000000000" pitchFamily="65" charset="-120"/>
              </a:rPr>
              <a:t>Controller</a:t>
            </a:r>
            <a:r>
              <a:rPr lang="zh-TW" altLang="en-US" dirty="0">
                <a:solidFill>
                  <a:srgbClr val="FF0000"/>
                </a:solidFill>
                <a:latin typeface="標楷體" panose="03000509000000000000" pitchFamily="65" charset="-120"/>
                <a:ea typeface="標楷體" panose="03000509000000000000" pitchFamily="65" charset="-120"/>
              </a:rPr>
              <a:t>來獲取</a:t>
            </a:r>
            <a:r>
              <a:rPr lang="zh-TW" altLang="en-US" dirty="0">
                <a:latin typeface="標楷體" panose="03000509000000000000" pitchFamily="65" charset="-120"/>
                <a:ea typeface="標楷體" panose="03000509000000000000" pitchFamily="65" charset="-120"/>
              </a:rPr>
              <a:t>數據。</a:t>
            </a:r>
            <a:endParaRPr lang="en-US" altLang="zh-TW" dirty="0">
              <a:latin typeface="標楷體" panose="03000509000000000000" pitchFamily="65" charset="-120"/>
              <a:ea typeface="標楷體" panose="03000509000000000000" pitchFamily="65" charset="-120"/>
            </a:endParaRPr>
          </a:p>
          <a:p>
            <a:pPr marL="0" indent="0">
              <a:buNone/>
            </a:pPr>
            <a:r>
              <a:rPr lang="en-US" altLang="zh-TW" b="1" dirty="0"/>
              <a:t>Controller</a:t>
            </a:r>
            <a:r>
              <a:rPr lang="zh-TW" altLang="en-US" b="1" dirty="0"/>
              <a:t>（控制器）</a:t>
            </a:r>
            <a:r>
              <a:rPr lang="zh-TW" altLang="en-US" dirty="0"/>
              <a:t>：</a:t>
            </a:r>
            <a:r>
              <a:rPr lang="en-US" altLang="zh-TW" dirty="0">
                <a:latin typeface="標楷體" panose="03000509000000000000" pitchFamily="65" charset="-120"/>
                <a:ea typeface="標楷體" panose="03000509000000000000" pitchFamily="65" charset="-120"/>
              </a:rPr>
              <a:t>Controller</a:t>
            </a:r>
            <a:r>
              <a:rPr lang="zh-TW" altLang="en-US" dirty="0">
                <a:latin typeface="標楷體" panose="03000509000000000000" pitchFamily="65" charset="-120"/>
                <a:ea typeface="標楷體" panose="03000509000000000000" pitchFamily="65" charset="-120"/>
              </a:rPr>
              <a:t>負責處理</a:t>
            </a:r>
            <a:r>
              <a:rPr lang="zh-TW" altLang="en-US" dirty="0">
                <a:solidFill>
                  <a:srgbClr val="FF0000"/>
                </a:solidFill>
                <a:latin typeface="標楷體" panose="03000509000000000000" pitchFamily="65" charset="-120"/>
                <a:ea typeface="標楷體" panose="03000509000000000000" pitchFamily="65" charset="-120"/>
              </a:rPr>
              <a:t>用戶的輸入</a:t>
            </a:r>
            <a:r>
              <a:rPr lang="zh-TW" altLang="en-US" dirty="0">
                <a:latin typeface="標楷體" panose="03000509000000000000" pitchFamily="65" charset="-120"/>
                <a:ea typeface="標楷體" panose="03000509000000000000" pitchFamily="65" charset="-120"/>
              </a:rPr>
              <a:t>，並根據輸入執行適當的操作。當用戶與</a:t>
            </a:r>
            <a:r>
              <a:rPr lang="en-US" altLang="zh-TW" dirty="0">
                <a:latin typeface="標楷體" panose="03000509000000000000" pitchFamily="65" charset="-120"/>
                <a:ea typeface="標楷體" panose="03000509000000000000" pitchFamily="65" charset="-120"/>
              </a:rPr>
              <a:t>View</a:t>
            </a:r>
            <a:r>
              <a:rPr lang="zh-TW" altLang="en-US" dirty="0">
                <a:latin typeface="標楷體" panose="03000509000000000000" pitchFamily="65" charset="-120"/>
                <a:ea typeface="標楷體" panose="03000509000000000000" pitchFamily="65" charset="-120"/>
              </a:rPr>
              <a:t>互動時，</a:t>
            </a:r>
            <a:r>
              <a:rPr lang="en-US" altLang="zh-TW" dirty="0">
                <a:latin typeface="標楷體" panose="03000509000000000000" pitchFamily="65" charset="-120"/>
                <a:ea typeface="標楷體" panose="03000509000000000000" pitchFamily="65" charset="-120"/>
              </a:rPr>
              <a:t>Controller</a:t>
            </a:r>
            <a:r>
              <a:rPr lang="zh-TW" altLang="en-US" dirty="0">
                <a:latin typeface="標楷體" panose="03000509000000000000" pitchFamily="65" charset="-120"/>
                <a:ea typeface="標楷體" panose="03000509000000000000" pitchFamily="65" charset="-120"/>
              </a:rPr>
              <a:t>接收這些互動，然後根據需要更新</a:t>
            </a:r>
            <a:r>
              <a:rPr lang="en-US" altLang="zh-TW" dirty="0">
                <a:latin typeface="標楷體" panose="03000509000000000000" pitchFamily="65" charset="-120"/>
                <a:ea typeface="標楷體" panose="03000509000000000000" pitchFamily="65" charset="-120"/>
              </a:rPr>
              <a:t>Model</a:t>
            </a:r>
            <a:r>
              <a:rPr lang="zh-TW" altLang="en-US" dirty="0">
                <a:latin typeface="標楷體" panose="03000509000000000000" pitchFamily="65" charset="-120"/>
                <a:ea typeface="標楷體" panose="03000509000000000000" pitchFamily="65" charset="-120"/>
              </a:rPr>
              <a:t>或</a:t>
            </a:r>
            <a:r>
              <a:rPr lang="en-US" altLang="zh-TW" dirty="0">
                <a:latin typeface="標楷體" panose="03000509000000000000" pitchFamily="65" charset="-120"/>
                <a:ea typeface="標楷體" panose="03000509000000000000" pitchFamily="65" charset="-120"/>
              </a:rPr>
              <a:t>View</a:t>
            </a:r>
            <a:r>
              <a:rPr lang="zh-TW" altLang="en-US" dirty="0">
                <a:latin typeface="標楷體" panose="03000509000000000000" pitchFamily="65" charset="-120"/>
                <a:ea typeface="標楷體" panose="03000509000000000000" pitchFamily="65" charset="-120"/>
              </a:rPr>
              <a:t>。</a:t>
            </a:r>
            <a:r>
              <a:rPr lang="en-US" altLang="zh-TW" dirty="0">
                <a:latin typeface="標楷體" panose="03000509000000000000" pitchFamily="65" charset="-120"/>
                <a:ea typeface="標楷體" panose="03000509000000000000" pitchFamily="65" charset="-120"/>
              </a:rPr>
              <a:t>Controller</a:t>
            </a:r>
            <a:r>
              <a:rPr lang="zh-TW" altLang="en-US" dirty="0">
                <a:latin typeface="標楷體" panose="03000509000000000000" pitchFamily="65" charset="-120"/>
                <a:ea typeface="標楷體" panose="03000509000000000000" pitchFamily="65" charset="-120"/>
              </a:rPr>
              <a:t>充當</a:t>
            </a:r>
            <a:r>
              <a:rPr lang="en-US" altLang="zh-TW" dirty="0">
                <a:latin typeface="標楷體" panose="03000509000000000000" pitchFamily="65" charset="-120"/>
                <a:ea typeface="標楷體" panose="03000509000000000000" pitchFamily="65" charset="-120"/>
              </a:rPr>
              <a:t>Model</a:t>
            </a:r>
            <a:r>
              <a:rPr lang="zh-TW" altLang="en-US" dirty="0">
                <a:latin typeface="標楷體" panose="03000509000000000000" pitchFamily="65" charset="-120"/>
                <a:ea typeface="標楷體" panose="03000509000000000000" pitchFamily="65" charset="-120"/>
              </a:rPr>
              <a:t>和</a:t>
            </a:r>
            <a:r>
              <a:rPr lang="en-US" altLang="zh-TW" dirty="0">
                <a:latin typeface="標楷體" panose="03000509000000000000" pitchFamily="65" charset="-120"/>
                <a:ea typeface="標楷體" panose="03000509000000000000" pitchFamily="65" charset="-120"/>
              </a:rPr>
              <a:t>View</a:t>
            </a:r>
            <a:r>
              <a:rPr lang="zh-TW" altLang="en-US" dirty="0">
                <a:latin typeface="標楷體" panose="03000509000000000000" pitchFamily="65" charset="-120"/>
                <a:ea typeface="標楷體" panose="03000509000000000000" pitchFamily="65" charset="-120"/>
              </a:rPr>
              <a:t>之間的</a:t>
            </a:r>
            <a:r>
              <a:rPr lang="zh-TW" altLang="en-US" dirty="0">
                <a:solidFill>
                  <a:srgbClr val="FF0000"/>
                </a:solidFill>
                <a:latin typeface="標楷體" panose="03000509000000000000" pitchFamily="65" charset="-120"/>
                <a:ea typeface="標楷體" panose="03000509000000000000" pitchFamily="65" charset="-120"/>
              </a:rPr>
              <a:t>中介</a:t>
            </a:r>
            <a:r>
              <a:rPr lang="zh-TW" altLang="en-US" dirty="0">
                <a:latin typeface="標楷體" panose="03000509000000000000" pitchFamily="65" charset="-120"/>
                <a:ea typeface="標楷體" panose="03000509000000000000" pitchFamily="65" charset="-120"/>
              </a:rPr>
              <a:t>，它決定</a:t>
            </a:r>
            <a:r>
              <a:rPr lang="zh-TW" altLang="en-US" dirty="0">
                <a:solidFill>
                  <a:srgbClr val="FF0000"/>
                </a:solidFill>
                <a:latin typeface="標楷體" panose="03000509000000000000" pitchFamily="65" charset="-120"/>
                <a:ea typeface="標楷體" panose="03000509000000000000" pitchFamily="65" charset="-120"/>
              </a:rPr>
              <a:t>如何更新</a:t>
            </a:r>
            <a:r>
              <a:rPr lang="en-US" altLang="zh-TW" dirty="0">
                <a:solidFill>
                  <a:srgbClr val="FF0000"/>
                </a:solidFill>
                <a:latin typeface="標楷體" panose="03000509000000000000" pitchFamily="65" charset="-120"/>
                <a:ea typeface="標楷體" panose="03000509000000000000" pitchFamily="65" charset="-120"/>
              </a:rPr>
              <a:t>Model</a:t>
            </a:r>
            <a:r>
              <a:rPr lang="zh-TW" altLang="en-US" dirty="0">
                <a:solidFill>
                  <a:srgbClr val="FF0000"/>
                </a:solidFill>
                <a:latin typeface="標楷體" panose="03000509000000000000" pitchFamily="65" charset="-120"/>
                <a:ea typeface="標楷體" panose="03000509000000000000" pitchFamily="65" charset="-120"/>
              </a:rPr>
              <a:t>中的數據，然後通知</a:t>
            </a:r>
            <a:r>
              <a:rPr lang="en-US" altLang="zh-TW" dirty="0">
                <a:solidFill>
                  <a:srgbClr val="FF0000"/>
                </a:solidFill>
                <a:latin typeface="標楷體" panose="03000509000000000000" pitchFamily="65" charset="-120"/>
                <a:ea typeface="標楷體" panose="03000509000000000000" pitchFamily="65" charset="-120"/>
              </a:rPr>
              <a:t>View</a:t>
            </a:r>
            <a:r>
              <a:rPr lang="zh-TW" altLang="en-US" dirty="0">
                <a:latin typeface="標楷體" panose="03000509000000000000" pitchFamily="65" charset="-120"/>
                <a:ea typeface="標楷體" panose="03000509000000000000" pitchFamily="65" charset="-120"/>
              </a:rPr>
              <a:t>來更新以反映這些變化。</a:t>
            </a:r>
            <a:endParaRPr lang="en-US" altLang="zh-TW" dirty="0">
              <a:latin typeface="標楷體" panose="03000509000000000000" pitchFamily="65" charset="-120"/>
              <a:ea typeface="標楷體" panose="03000509000000000000" pitchFamily="65" charset="-120"/>
            </a:endParaRPr>
          </a:p>
          <a:p>
            <a:pPr marL="0" indent="0">
              <a:buNone/>
            </a:pPr>
            <a:r>
              <a:rPr lang="zh-TW" altLang="en-US" dirty="0"/>
              <a:t>總之，</a:t>
            </a:r>
            <a:r>
              <a:rPr lang="en-US" altLang="zh-TW" dirty="0"/>
              <a:t>MVC</a:t>
            </a:r>
            <a:r>
              <a:rPr lang="zh-TW" altLang="en-US" dirty="0"/>
              <a:t>架構使應用程式的不同部分分離開來，實現更好的代碼結構和可維護性，允許獨立地修改</a:t>
            </a:r>
            <a:r>
              <a:rPr lang="en-US" altLang="zh-TW" dirty="0"/>
              <a:t>Model</a:t>
            </a:r>
            <a:r>
              <a:rPr lang="zh-TW" altLang="en-US" dirty="0"/>
              <a:t>、</a:t>
            </a:r>
            <a:r>
              <a:rPr lang="en-US" altLang="zh-TW" dirty="0"/>
              <a:t>View</a:t>
            </a:r>
            <a:r>
              <a:rPr lang="zh-TW" altLang="en-US" dirty="0"/>
              <a:t>或</a:t>
            </a:r>
            <a:r>
              <a:rPr lang="en-US" altLang="zh-TW" dirty="0"/>
              <a:t>Controller</a:t>
            </a:r>
            <a:r>
              <a:rPr lang="zh-TW" altLang="en-US" dirty="0"/>
              <a:t>，而不對其他部分產生太大影響。</a:t>
            </a:r>
            <a:endParaRPr lang="en-US" altLang="zh-TW" dirty="0">
              <a:latin typeface="標楷體" panose="03000509000000000000" pitchFamily="65" charset="-120"/>
              <a:ea typeface="標楷體" panose="03000509000000000000" pitchFamily="65" charset="-120"/>
            </a:endParaRPr>
          </a:p>
          <a:p>
            <a:pPr marL="0" indent="0">
              <a:buNone/>
            </a:pP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4032387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51DC563-4A11-42CE-A448-813D7E71926D}"/>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id="{ED79B079-36A5-4616-A3CC-38A670D06A5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200000">
            <a:off x="2667000" y="-2667001"/>
            <a:ext cx="6858001" cy="12192000"/>
          </a:xfrm>
        </p:spPr>
      </p:pic>
    </p:spTree>
    <p:extLst>
      <p:ext uri="{BB962C8B-B14F-4D97-AF65-F5344CB8AC3E}">
        <p14:creationId xmlns:p14="http://schemas.microsoft.com/office/powerpoint/2010/main" val="22291986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611A6B-9738-46FA-A95F-D49B7B684316}"/>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id="{79142DED-95E8-4447-B666-DC345067105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200000">
            <a:off x="2666999" y="-2667002"/>
            <a:ext cx="6858002" cy="12192001"/>
          </a:xfrm>
        </p:spPr>
      </p:pic>
    </p:spTree>
    <p:extLst>
      <p:ext uri="{BB962C8B-B14F-4D97-AF65-F5344CB8AC3E}">
        <p14:creationId xmlns:p14="http://schemas.microsoft.com/office/powerpoint/2010/main" val="1312385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7BC8B9-A453-4858-BCCD-DCFCA32D6B29}"/>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id="{053A5A14-228E-4199-A269-460F399C5FB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200000">
            <a:off x="2666999" y="-2667003"/>
            <a:ext cx="6858001" cy="12192003"/>
          </a:xfrm>
        </p:spPr>
      </p:pic>
    </p:spTree>
    <p:extLst>
      <p:ext uri="{BB962C8B-B14F-4D97-AF65-F5344CB8AC3E}">
        <p14:creationId xmlns:p14="http://schemas.microsoft.com/office/powerpoint/2010/main" val="584809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4B76B0-7D69-4529-9B41-E7ED16EDE77B}"/>
              </a:ext>
            </a:extLst>
          </p:cNvPr>
          <p:cNvSpPr>
            <a:spLocks noGrp="1"/>
          </p:cNvSpPr>
          <p:nvPr>
            <p:ph type="title"/>
          </p:nvPr>
        </p:nvSpPr>
        <p:spPr>
          <a:xfrm>
            <a:off x="0" y="266218"/>
            <a:ext cx="12192000" cy="497711"/>
          </a:xfrm>
        </p:spPr>
        <p:txBody>
          <a:bodyPr>
            <a:normAutofit fontScale="90000"/>
          </a:bodyPr>
          <a:lstStyle/>
          <a:p>
            <a:r>
              <a:rPr lang="en-US" altLang="zh-TW" sz="2700" dirty="0">
                <a:solidFill>
                  <a:schemeClr val="accent6">
                    <a:lumMod val="75000"/>
                  </a:schemeClr>
                </a:solidFill>
                <a:latin typeface="+mn-ea"/>
                <a:ea typeface="+mn-ea"/>
              </a:rPr>
              <a:t>(</a:t>
            </a:r>
            <a:r>
              <a:rPr lang="zh-TW" altLang="en-US" sz="2700" dirty="0">
                <a:solidFill>
                  <a:schemeClr val="accent6">
                    <a:lumMod val="75000"/>
                  </a:schemeClr>
                </a:solidFill>
                <a:latin typeface="+mn-ea"/>
                <a:ea typeface="+mn-ea"/>
              </a:rPr>
              <a:t>補充，之前的描述可能過於簡化了這個概念</a:t>
            </a:r>
            <a:r>
              <a:rPr lang="en-US" altLang="zh-TW" sz="2700" dirty="0">
                <a:solidFill>
                  <a:schemeClr val="accent6">
                    <a:lumMod val="75000"/>
                  </a:schemeClr>
                </a:solidFill>
                <a:latin typeface="+mn-ea"/>
                <a:ea typeface="+mn-ea"/>
              </a:rPr>
              <a:t>:</a:t>
            </a:r>
            <a:r>
              <a:rPr lang="zh-TW" altLang="en-US" sz="2700" b="1" dirty="0">
                <a:solidFill>
                  <a:schemeClr val="accent6">
                    <a:lumMod val="75000"/>
                  </a:schemeClr>
                </a:solidFill>
                <a:latin typeface="+mn-ea"/>
                <a:ea typeface="+mn-ea"/>
              </a:rPr>
              <a:t> </a:t>
            </a:r>
            <a:r>
              <a:rPr lang="en-US" altLang="zh-TW" sz="2700" b="1" dirty="0">
                <a:solidFill>
                  <a:schemeClr val="accent6">
                    <a:lumMod val="75000"/>
                  </a:schemeClr>
                </a:solidFill>
                <a:latin typeface="+mn-ea"/>
                <a:ea typeface="+mn-ea"/>
              </a:rPr>
              <a:t>Model</a:t>
            </a:r>
            <a:r>
              <a:rPr lang="zh-TW" altLang="en-US" sz="2700" b="1" dirty="0">
                <a:solidFill>
                  <a:schemeClr val="accent6">
                    <a:lumMod val="75000"/>
                  </a:schemeClr>
                </a:solidFill>
                <a:latin typeface="+mn-ea"/>
                <a:ea typeface="+mn-ea"/>
              </a:rPr>
              <a:t>不知道</a:t>
            </a:r>
            <a:r>
              <a:rPr lang="en-US" altLang="zh-TW" sz="2700" b="1" dirty="0">
                <a:solidFill>
                  <a:schemeClr val="accent6">
                    <a:lumMod val="75000"/>
                  </a:schemeClr>
                </a:solidFill>
                <a:latin typeface="+mn-ea"/>
                <a:ea typeface="+mn-ea"/>
              </a:rPr>
              <a:t>View</a:t>
            </a:r>
            <a:r>
              <a:rPr lang="zh-TW" altLang="en-US" sz="2700" b="1" dirty="0">
                <a:solidFill>
                  <a:schemeClr val="accent6">
                    <a:lumMod val="75000"/>
                  </a:schemeClr>
                </a:solidFill>
                <a:latin typeface="+mn-ea"/>
                <a:ea typeface="+mn-ea"/>
              </a:rPr>
              <a:t>或</a:t>
            </a:r>
            <a:r>
              <a:rPr lang="en-US" altLang="zh-TW" sz="2700" b="1" dirty="0">
                <a:solidFill>
                  <a:schemeClr val="accent6">
                    <a:lumMod val="75000"/>
                  </a:schemeClr>
                </a:solidFill>
                <a:latin typeface="+mn-ea"/>
                <a:ea typeface="+mn-ea"/>
              </a:rPr>
              <a:t>Controller</a:t>
            </a:r>
            <a:r>
              <a:rPr lang="zh-TW" altLang="en-US" sz="2700" b="1" dirty="0">
                <a:solidFill>
                  <a:schemeClr val="accent6">
                    <a:lumMod val="75000"/>
                  </a:schemeClr>
                </a:solidFill>
                <a:latin typeface="+mn-ea"/>
                <a:ea typeface="+mn-ea"/>
              </a:rPr>
              <a:t>的存在</a:t>
            </a:r>
            <a:r>
              <a:rPr lang="en-US" altLang="zh-TW" sz="2700" dirty="0">
                <a:solidFill>
                  <a:schemeClr val="accent6">
                    <a:lumMod val="75000"/>
                  </a:schemeClr>
                </a:solidFill>
                <a:latin typeface="+mn-ea"/>
                <a:ea typeface="+mn-ea"/>
              </a:rPr>
              <a:t>)</a:t>
            </a:r>
            <a:br>
              <a:rPr lang="en-US" altLang="zh-TW" sz="4000" dirty="0">
                <a:latin typeface="標楷體" panose="03000509000000000000" pitchFamily="65" charset="-120"/>
                <a:ea typeface="標楷體" panose="03000509000000000000" pitchFamily="65" charset="-120"/>
              </a:rPr>
            </a:br>
            <a:endParaRPr lang="zh-TW" altLang="en-US" sz="4000" dirty="0"/>
          </a:p>
        </p:txBody>
      </p:sp>
      <p:sp>
        <p:nvSpPr>
          <p:cNvPr id="3" name="內容版面配置區 2">
            <a:extLst>
              <a:ext uri="{FF2B5EF4-FFF2-40B4-BE49-F238E27FC236}">
                <a16:creationId xmlns:a16="http://schemas.microsoft.com/office/drawing/2014/main" id="{DCBCB0D9-3C46-46DB-917B-BCF37F15EB0C}"/>
              </a:ext>
            </a:extLst>
          </p:cNvPr>
          <p:cNvSpPr>
            <a:spLocks noGrp="1"/>
          </p:cNvSpPr>
          <p:nvPr>
            <p:ph idx="1"/>
          </p:nvPr>
        </p:nvSpPr>
        <p:spPr>
          <a:xfrm>
            <a:off x="0" y="763928"/>
            <a:ext cx="12192000" cy="6094071"/>
          </a:xfrm>
        </p:spPr>
        <p:txBody>
          <a:bodyPr>
            <a:normAutofit lnSpcReduction="10000"/>
          </a:bodyPr>
          <a:lstStyle/>
          <a:p>
            <a:r>
              <a:rPr lang="zh-TW" altLang="en-US" dirty="0"/>
              <a:t>上述旨在強調</a:t>
            </a:r>
            <a:r>
              <a:rPr lang="en-US" altLang="zh-TW" dirty="0"/>
              <a:t>Model</a:t>
            </a:r>
            <a:r>
              <a:rPr lang="zh-TW" altLang="en-US" dirty="0"/>
              <a:t>的獨立性，但這不是絕對正確的，因為在實際應用中，這些元件之間的關係可以更複雜。實際上，</a:t>
            </a:r>
            <a:r>
              <a:rPr lang="en-US" altLang="zh-TW" dirty="0"/>
              <a:t>MVC</a:t>
            </a:r>
            <a:r>
              <a:rPr lang="zh-TW" altLang="en-US" dirty="0"/>
              <a:t>架構中的元件之間是有關聯的，而且它們之間的互動可以是雙向的。</a:t>
            </a:r>
            <a:endParaRPr lang="en-US" altLang="zh-TW" dirty="0"/>
          </a:p>
          <a:p>
            <a:pPr marL="0" indent="0">
              <a:buNone/>
            </a:pPr>
            <a:endParaRPr lang="en-US" altLang="zh-TW" dirty="0"/>
          </a:p>
          <a:p>
            <a:pPr marL="514350" indent="-514350">
              <a:buAutoNum type="arabicPeriod"/>
            </a:pPr>
            <a:r>
              <a:rPr lang="en-US" altLang="zh-TW" dirty="0">
                <a:latin typeface="標楷體" panose="03000509000000000000" pitchFamily="65" charset="-120"/>
                <a:ea typeface="標楷體" panose="03000509000000000000" pitchFamily="65" charset="-120"/>
              </a:rPr>
              <a:t>Model</a:t>
            </a:r>
            <a:r>
              <a:rPr lang="zh-TW" altLang="en-US" dirty="0">
                <a:latin typeface="標楷體" panose="03000509000000000000" pitchFamily="65" charset="-120"/>
                <a:ea typeface="標楷體" panose="03000509000000000000" pitchFamily="65" charset="-120"/>
              </a:rPr>
              <a:t>通常</a:t>
            </a:r>
            <a:r>
              <a:rPr lang="zh-TW" altLang="en-US" dirty="0">
                <a:solidFill>
                  <a:srgbClr val="FF0000"/>
                </a:solidFill>
                <a:latin typeface="標楷體" panose="03000509000000000000" pitchFamily="65" charset="-120"/>
                <a:ea typeface="標楷體" panose="03000509000000000000" pitchFamily="65" charset="-120"/>
              </a:rPr>
              <a:t>不應該直接依賴</a:t>
            </a:r>
            <a:r>
              <a:rPr lang="zh-TW" altLang="en-US" dirty="0">
                <a:latin typeface="標楷體" panose="03000509000000000000" pitchFamily="65" charset="-120"/>
                <a:ea typeface="標楷體" panose="03000509000000000000" pitchFamily="65" charset="-120"/>
              </a:rPr>
              <a:t>特定的</a:t>
            </a:r>
            <a:r>
              <a:rPr lang="en-US" altLang="zh-TW" dirty="0">
                <a:latin typeface="標楷體" panose="03000509000000000000" pitchFamily="65" charset="-120"/>
                <a:ea typeface="標楷體" panose="03000509000000000000" pitchFamily="65" charset="-120"/>
              </a:rPr>
              <a:t>View</a:t>
            </a:r>
            <a:r>
              <a:rPr lang="zh-TW" altLang="en-US" dirty="0">
                <a:latin typeface="標楷體" panose="03000509000000000000" pitchFamily="65" charset="-120"/>
                <a:ea typeface="標楷體" panose="03000509000000000000" pitchFamily="65" charset="-120"/>
              </a:rPr>
              <a:t>或</a:t>
            </a:r>
            <a:r>
              <a:rPr lang="en-US" altLang="zh-TW" dirty="0">
                <a:latin typeface="標楷體" panose="03000509000000000000" pitchFamily="65" charset="-120"/>
                <a:ea typeface="標楷體" panose="03000509000000000000" pitchFamily="65" charset="-120"/>
              </a:rPr>
              <a:t>Controller</a:t>
            </a:r>
            <a:r>
              <a:rPr lang="zh-TW" altLang="en-US" dirty="0">
                <a:latin typeface="標楷體" panose="03000509000000000000" pitchFamily="65" charset="-120"/>
                <a:ea typeface="標楷體" panose="03000509000000000000" pitchFamily="65" charset="-120"/>
              </a:rPr>
              <a:t>實例，確保模型的獨立。然而，它可以</a:t>
            </a:r>
            <a:r>
              <a:rPr lang="zh-TW" altLang="en-US" dirty="0">
                <a:solidFill>
                  <a:srgbClr val="FF0000"/>
                </a:solidFill>
                <a:latin typeface="標楷體" panose="03000509000000000000" pitchFamily="65" charset="-120"/>
                <a:ea typeface="標楷體" panose="03000509000000000000" pitchFamily="65" charset="-120"/>
              </a:rPr>
              <a:t>提供觀察者模式</a:t>
            </a:r>
            <a:r>
              <a:rPr lang="zh-TW" altLang="en-US" dirty="0">
                <a:latin typeface="標楷體" panose="03000509000000000000" pitchFamily="65" charset="-120"/>
                <a:ea typeface="標楷體" panose="03000509000000000000" pitchFamily="65" charset="-120"/>
              </a:rPr>
              <a:t>或</a:t>
            </a:r>
            <a:r>
              <a:rPr lang="zh-TW" altLang="en-US" dirty="0">
                <a:solidFill>
                  <a:srgbClr val="FF0000"/>
                </a:solidFill>
                <a:latin typeface="標楷體" panose="03000509000000000000" pitchFamily="65" charset="-120"/>
                <a:ea typeface="標楷體" panose="03000509000000000000" pitchFamily="65" charset="-120"/>
              </a:rPr>
              <a:t>事件系統等機制</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如</a:t>
            </a:r>
            <a:r>
              <a:rPr lang="en-US" altLang="zh-TW" dirty="0">
                <a:latin typeface="標楷體" panose="03000509000000000000" pitchFamily="65" charset="-120"/>
                <a:ea typeface="標楷體" panose="03000509000000000000" pitchFamily="65" charset="-120"/>
              </a:rPr>
              <a:t>View</a:t>
            </a:r>
            <a:r>
              <a:rPr lang="zh-TW" altLang="en-US" dirty="0">
                <a:latin typeface="標楷體" panose="03000509000000000000" pitchFamily="65" charset="-120"/>
                <a:ea typeface="標楷體" panose="03000509000000000000" pitchFamily="65" charset="-120"/>
              </a:rPr>
              <a:t>或</a:t>
            </a:r>
            <a:r>
              <a:rPr lang="en-US" altLang="zh-TW" dirty="0">
                <a:latin typeface="標楷體" panose="03000509000000000000" pitchFamily="65" charset="-120"/>
                <a:ea typeface="標楷體" panose="03000509000000000000" pitchFamily="65" charset="-120"/>
              </a:rPr>
              <a:t>Controller</a:t>
            </a:r>
            <a:r>
              <a:rPr lang="zh-TW" altLang="en-US" dirty="0">
                <a:latin typeface="標楷體" panose="03000509000000000000" pitchFamily="65" charset="-120"/>
                <a:ea typeface="標楷體" panose="03000509000000000000" pitchFamily="65" charset="-120"/>
              </a:rPr>
              <a:t>註冊為觀察者</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，以便在狀態發生變化時通知它們，這樣可實現</a:t>
            </a:r>
            <a:r>
              <a:rPr lang="en-US" altLang="zh-TW" dirty="0">
                <a:latin typeface="標楷體" panose="03000509000000000000" pitchFamily="65" charset="-120"/>
                <a:ea typeface="標楷體" panose="03000509000000000000" pitchFamily="65" charset="-120"/>
              </a:rPr>
              <a:t>Model</a:t>
            </a:r>
            <a:r>
              <a:rPr lang="zh-TW" altLang="en-US" dirty="0">
                <a:latin typeface="標楷體" panose="03000509000000000000" pitchFamily="65" charset="-120"/>
                <a:ea typeface="標楷體" panose="03000509000000000000" pitchFamily="65" charset="-120"/>
              </a:rPr>
              <a:t>到</a:t>
            </a:r>
            <a:r>
              <a:rPr lang="en-US" altLang="zh-TW" dirty="0">
                <a:latin typeface="標楷體" panose="03000509000000000000" pitchFamily="65" charset="-120"/>
                <a:ea typeface="標楷體" panose="03000509000000000000" pitchFamily="65" charset="-120"/>
              </a:rPr>
              <a:t>View</a:t>
            </a:r>
            <a:r>
              <a:rPr lang="zh-TW" altLang="en-US" dirty="0">
                <a:latin typeface="標楷體" panose="03000509000000000000" pitchFamily="65" charset="-120"/>
                <a:ea typeface="標楷體" panose="03000509000000000000" pitchFamily="65" charset="-120"/>
              </a:rPr>
              <a:t>或</a:t>
            </a:r>
            <a:r>
              <a:rPr lang="en-US" altLang="zh-TW" dirty="0">
                <a:latin typeface="標楷體" panose="03000509000000000000" pitchFamily="65" charset="-120"/>
                <a:ea typeface="標楷體" panose="03000509000000000000" pitchFamily="65" charset="-120"/>
              </a:rPr>
              <a:t>Controller</a:t>
            </a:r>
            <a:r>
              <a:rPr lang="zh-TW" altLang="en-US" dirty="0">
                <a:latin typeface="標楷體" panose="03000509000000000000" pitchFamily="65" charset="-120"/>
                <a:ea typeface="標楷體" panose="03000509000000000000" pitchFamily="65" charset="-120"/>
              </a:rPr>
              <a:t>的通信。</a:t>
            </a:r>
            <a:endParaRPr lang="en-US" altLang="zh-TW" dirty="0">
              <a:latin typeface="標楷體" panose="03000509000000000000" pitchFamily="65" charset="-120"/>
              <a:ea typeface="標楷體" panose="03000509000000000000" pitchFamily="65" charset="-120"/>
            </a:endParaRPr>
          </a:p>
          <a:p>
            <a:pPr marL="514350" indent="-514350">
              <a:buAutoNum type="arabicPeriod"/>
            </a:pPr>
            <a:r>
              <a:rPr lang="en-US" altLang="zh-TW" dirty="0"/>
              <a:t>Model</a:t>
            </a:r>
            <a:r>
              <a:rPr lang="zh-TW" altLang="en-US" dirty="0"/>
              <a:t>不應直接知道</a:t>
            </a:r>
            <a:r>
              <a:rPr lang="en-US" altLang="zh-TW" dirty="0"/>
              <a:t>View</a:t>
            </a:r>
            <a:r>
              <a:rPr lang="zh-TW" altLang="en-US" dirty="0"/>
              <a:t>的存在，</a:t>
            </a:r>
            <a:r>
              <a:rPr lang="en-US" altLang="zh-TW" dirty="0"/>
              <a:t>Model</a:t>
            </a:r>
            <a:r>
              <a:rPr lang="zh-TW" altLang="en-US" dirty="0"/>
              <a:t>通常</a:t>
            </a:r>
            <a:r>
              <a:rPr lang="zh-TW" altLang="en-US" dirty="0">
                <a:solidFill>
                  <a:srgbClr val="FF0000"/>
                </a:solidFill>
              </a:rPr>
              <a:t>不直接與</a:t>
            </a:r>
            <a:r>
              <a:rPr lang="en-US" altLang="zh-TW" dirty="0">
                <a:solidFill>
                  <a:srgbClr val="FF0000"/>
                </a:solidFill>
              </a:rPr>
              <a:t>View</a:t>
            </a:r>
            <a:r>
              <a:rPr lang="zh-TW" altLang="en-US" dirty="0">
                <a:solidFill>
                  <a:srgbClr val="FF0000"/>
                </a:solidFill>
              </a:rPr>
              <a:t>有關聯</a:t>
            </a:r>
            <a:r>
              <a:rPr lang="zh-TW" altLang="en-US" dirty="0"/>
              <a:t>。</a:t>
            </a:r>
            <a:r>
              <a:rPr lang="en-US" altLang="zh-TW" dirty="0"/>
              <a:t>Model</a:t>
            </a:r>
            <a:r>
              <a:rPr lang="zh-TW" altLang="en-US" dirty="0"/>
              <a:t>的</a:t>
            </a:r>
            <a:r>
              <a:rPr lang="zh-TW" altLang="en-US" dirty="0">
                <a:solidFill>
                  <a:srgbClr val="FF0000"/>
                </a:solidFill>
              </a:rPr>
              <a:t>目標是管理和邏輯，不是直接處理用戶界面的細節</a:t>
            </a:r>
            <a:r>
              <a:rPr lang="zh-TW" altLang="en-US" dirty="0"/>
              <a:t>。然而，在某些情況下，</a:t>
            </a:r>
            <a:r>
              <a:rPr lang="en-US" altLang="zh-TW" dirty="0"/>
              <a:t>Model</a:t>
            </a:r>
            <a:r>
              <a:rPr lang="zh-TW" altLang="en-US" dirty="0"/>
              <a:t>可能需要通過觀察者模式來通知</a:t>
            </a:r>
            <a:r>
              <a:rPr lang="en-US" altLang="zh-TW" dirty="0"/>
              <a:t>View</a:t>
            </a:r>
            <a:r>
              <a:rPr lang="zh-TW" altLang="en-US" dirty="0"/>
              <a:t>有關數據的變化，以便</a:t>
            </a:r>
            <a:r>
              <a:rPr lang="en-US" altLang="zh-TW" dirty="0"/>
              <a:t>View</a:t>
            </a:r>
            <a:r>
              <a:rPr lang="zh-TW" altLang="en-US" dirty="0"/>
              <a:t>可以相應地更新。</a:t>
            </a:r>
            <a:br>
              <a:rPr lang="en-US" altLang="zh-TW" dirty="0"/>
            </a:br>
            <a:r>
              <a:rPr lang="zh-TW" altLang="en-US" dirty="0"/>
              <a:t>相對的，</a:t>
            </a:r>
            <a:r>
              <a:rPr lang="en-US" altLang="zh-TW" dirty="0">
                <a:solidFill>
                  <a:srgbClr val="FF0000"/>
                </a:solidFill>
              </a:rPr>
              <a:t>View</a:t>
            </a:r>
            <a:r>
              <a:rPr lang="zh-TW" altLang="en-US" dirty="0">
                <a:solidFill>
                  <a:srgbClr val="FF0000"/>
                </a:solidFill>
              </a:rPr>
              <a:t>依賴</a:t>
            </a:r>
            <a:r>
              <a:rPr lang="en-US" altLang="zh-TW" dirty="0">
                <a:solidFill>
                  <a:srgbClr val="FF0000"/>
                </a:solidFill>
              </a:rPr>
              <a:t>Controller</a:t>
            </a:r>
            <a:r>
              <a:rPr lang="zh-TW" altLang="en-US" dirty="0">
                <a:solidFill>
                  <a:srgbClr val="FF0000"/>
                </a:solidFill>
              </a:rPr>
              <a:t>來處理用戶的輸入</a:t>
            </a:r>
            <a:r>
              <a:rPr lang="zh-TW" altLang="en-US" dirty="0"/>
              <a:t>，並且知道特定的</a:t>
            </a:r>
            <a:r>
              <a:rPr lang="en-US" altLang="zh-TW" dirty="0"/>
              <a:t>Controller</a:t>
            </a:r>
            <a:r>
              <a:rPr lang="zh-TW" altLang="en-US" dirty="0"/>
              <a:t>實例，因為</a:t>
            </a:r>
            <a:r>
              <a:rPr lang="en-US" altLang="zh-TW" dirty="0"/>
              <a:t>View</a:t>
            </a:r>
            <a:r>
              <a:rPr lang="zh-TW" altLang="en-US" dirty="0"/>
              <a:t>需要通知</a:t>
            </a:r>
            <a:r>
              <a:rPr lang="en-US" altLang="zh-TW" dirty="0"/>
              <a:t>Controller</a:t>
            </a:r>
            <a:r>
              <a:rPr lang="zh-TW" altLang="en-US" dirty="0"/>
              <a:t>有關用戶的互動，例如按鈕點擊或表單提交。</a:t>
            </a:r>
            <a:endParaRPr lang="en-US" altLang="zh-TW" dirty="0"/>
          </a:p>
          <a:p>
            <a:pPr marL="514350" indent="-514350">
              <a:buAutoNum type="arabicPeriod"/>
            </a:pPr>
            <a:endParaRPr lang="en-US" altLang="zh-TW" dirty="0"/>
          </a:p>
          <a:p>
            <a:pPr marL="0" indent="0">
              <a:buNone/>
            </a:pPr>
            <a:endParaRPr lang="en-US" altLang="zh-TW" dirty="0"/>
          </a:p>
          <a:p>
            <a:pPr marL="0" indent="0">
              <a:buNone/>
            </a:pPr>
            <a:endParaRPr lang="zh-TW" altLang="en-US" dirty="0"/>
          </a:p>
        </p:txBody>
      </p:sp>
    </p:spTree>
    <p:extLst>
      <p:ext uri="{BB962C8B-B14F-4D97-AF65-F5344CB8AC3E}">
        <p14:creationId xmlns:p14="http://schemas.microsoft.com/office/powerpoint/2010/main" val="1782705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9C5D710-D3F8-4854-8366-0F92E6F9B4A1}"/>
              </a:ext>
            </a:extLst>
          </p:cNvPr>
          <p:cNvSpPr>
            <a:spLocks noGrp="1"/>
          </p:cNvSpPr>
          <p:nvPr>
            <p:ph type="title"/>
          </p:nvPr>
        </p:nvSpPr>
        <p:spPr>
          <a:xfrm>
            <a:off x="0" y="0"/>
            <a:ext cx="5713071" cy="630298"/>
          </a:xfrm>
        </p:spPr>
        <p:txBody>
          <a:bodyPr>
            <a:normAutofit/>
          </a:bodyPr>
          <a:lstStyle/>
          <a:p>
            <a:r>
              <a:rPr lang="en-US" altLang="zh-TW" sz="2400" dirty="0">
                <a:solidFill>
                  <a:schemeClr val="accent4">
                    <a:lumMod val="75000"/>
                  </a:schemeClr>
                </a:solidFill>
              </a:rPr>
              <a:t>(</a:t>
            </a:r>
            <a:r>
              <a:rPr lang="zh-TW" altLang="en-US" sz="2400" dirty="0">
                <a:solidFill>
                  <a:schemeClr val="accent4">
                    <a:lumMod val="75000"/>
                  </a:schemeClr>
                </a:solidFill>
              </a:rPr>
              <a:t>補充</a:t>
            </a:r>
            <a:r>
              <a:rPr lang="en-US" altLang="zh-TW" sz="2400" dirty="0">
                <a:solidFill>
                  <a:schemeClr val="accent4">
                    <a:lumMod val="75000"/>
                  </a:schemeClr>
                </a:solidFill>
              </a:rPr>
              <a:t>:</a:t>
            </a:r>
            <a:r>
              <a:rPr lang="zh-TW" altLang="en-US" sz="2400" dirty="0">
                <a:solidFill>
                  <a:schemeClr val="accent4">
                    <a:lumMod val="75000"/>
                  </a:schemeClr>
                </a:solidFill>
                <a:latin typeface="標楷體" panose="03000509000000000000" pitchFamily="65" charset="-120"/>
                <a:ea typeface="標楷體" panose="03000509000000000000" pitchFamily="65" charset="-120"/>
              </a:rPr>
              <a:t>提供觀察者模式或事件系統等機制</a:t>
            </a:r>
            <a:r>
              <a:rPr lang="en-US" altLang="zh-TW" sz="2400" dirty="0">
                <a:solidFill>
                  <a:schemeClr val="accent4">
                    <a:lumMod val="75000"/>
                  </a:schemeClr>
                </a:solidFill>
                <a:latin typeface="標楷體" panose="03000509000000000000" pitchFamily="65" charset="-120"/>
                <a:ea typeface="標楷體" panose="03000509000000000000" pitchFamily="65" charset="-120"/>
              </a:rPr>
              <a:t>)</a:t>
            </a:r>
            <a:endParaRPr lang="zh-TW" altLang="en-US" sz="2400" dirty="0">
              <a:solidFill>
                <a:schemeClr val="accent4">
                  <a:lumMod val="75000"/>
                </a:schemeClr>
              </a:solidFill>
            </a:endParaRPr>
          </a:p>
        </p:txBody>
      </p:sp>
      <p:sp>
        <p:nvSpPr>
          <p:cNvPr id="3" name="內容版面配置區 2">
            <a:extLst>
              <a:ext uri="{FF2B5EF4-FFF2-40B4-BE49-F238E27FC236}">
                <a16:creationId xmlns:a16="http://schemas.microsoft.com/office/drawing/2014/main" id="{CC822384-02BB-41E5-9432-51EE5AE85B17}"/>
              </a:ext>
            </a:extLst>
          </p:cNvPr>
          <p:cNvSpPr>
            <a:spLocks noGrp="1"/>
          </p:cNvSpPr>
          <p:nvPr>
            <p:ph idx="1"/>
          </p:nvPr>
        </p:nvSpPr>
        <p:spPr>
          <a:xfrm>
            <a:off x="0" y="532436"/>
            <a:ext cx="12192000" cy="6325564"/>
          </a:xfrm>
        </p:spPr>
        <p:txBody>
          <a:bodyPr/>
          <a:lstStyle/>
          <a:p>
            <a:r>
              <a:rPr lang="zh-TW" altLang="en-US" b="1" dirty="0">
                <a:latin typeface="標楷體" panose="03000509000000000000" pitchFamily="65" charset="-120"/>
                <a:ea typeface="標楷體" panose="03000509000000000000" pitchFamily="65" charset="-120"/>
              </a:rPr>
              <a:t>觀察者模式</a:t>
            </a:r>
            <a:r>
              <a:rPr lang="zh-TW" altLang="en-US" dirty="0">
                <a:latin typeface="標楷體" panose="03000509000000000000" pitchFamily="65" charset="-120"/>
                <a:ea typeface="標楷體" panose="03000509000000000000" pitchFamily="65" charset="-120"/>
              </a:rPr>
              <a:t>是常見的</a:t>
            </a:r>
            <a:r>
              <a:rPr lang="zh-TW" altLang="en-US" dirty="0">
                <a:solidFill>
                  <a:srgbClr val="FF0000"/>
                </a:solidFill>
                <a:latin typeface="標楷體" panose="03000509000000000000" pitchFamily="65" charset="-120"/>
                <a:ea typeface="標楷體" panose="03000509000000000000" pitchFamily="65" charset="-120"/>
              </a:rPr>
              <a:t>機制</a:t>
            </a:r>
            <a:r>
              <a:rPr lang="zh-TW" altLang="en-US" dirty="0">
                <a:latin typeface="標楷體" panose="03000509000000000000" pitchFamily="65" charset="-120"/>
                <a:ea typeface="標楷體" panose="03000509000000000000" pitchFamily="65" charset="-120"/>
              </a:rPr>
              <a:t>，可以用來處理</a:t>
            </a:r>
            <a:r>
              <a:rPr lang="en-US" altLang="zh-TW" dirty="0">
                <a:latin typeface="標楷體" panose="03000509000000000000" pitchFamily="65" charset="-120"/>
                <a:ea typeface="標楷體" panose="03000509000000000000" pitchFamily="65" charset="-120"/>
              </a:rPr>
              <a:t>View</a:t>
            </a:r>
            <a:r>
              <a:rPr lang="zh-TW" altLang="en-US" dirty="0">
                <a:latin typeface="標楷體" panose="03000509000000000000" pitchFamily="65" charset="-120"/>
                <a:ea typeface="標楷體" panose="03000509000000000000" pitchFamily="65" charset="-120"/>
              </a:rPr>
              <a:t>和</a:t>
            </a:r>
            <a:r>
              <a:rPr lang="en-US" altLang="zh-TW" dirty="0">
                <a:latin typeface="標楷體" panose="03000509000000000000" pitchFamily="65" charset="-120"/>
                <a:ea typeface="標楷體" panose="03000509000000000000" pitchFamily="65" charset="-120"/>
              </a:rPr>
              <a:t>Model</a:t>
            </a:r>
            <a:r>
              <a:rPr lang="zh-TW" altLang="en-US" dirty="0">
                <a:solidFill>
                  <a:srgbClr val="FF0000"/>
                </a:solidFill>
                <a:latin typeface="標楷體" panose="03000509000000000000" pitchFamily="65" charset="-120"/>
                <a:ea typeface="標楷體" panose="03000509000000000000" pitchFamily="65" charset="-120"/>
              </a:rPr>
              <a:t>之間的通信</a:t>
            </a:r>
            <a:r>
              <a:rPr lang="zh-TW" altLang="en-US" dirty="0">
                <a:latin typeface="標楷體" panose="03000509000000000000" pitchFamily="65" charset="-120"/>
                <a:ea typeface="標楷體" panose="03000509000000000000" pitchFamily="65" charset="-120"/>
              </a:rPr>
              <a:t>、</a:t>
            </a:r>
            <a:r>
              <a:rPr lang="zh-TW" altLang="en-US" dirty="0">
                <a:solidFill>
                  <a:srgbClr val="FF0000"/>
                </a:solidFill>
                <a:latin typeface="標楷體" panose="03000509000000000000" pitchFamily="65" charset="-120"/>
                <a:ea typeface="標楷體" panose="03000509000000000000" pitchFamily="65" charset="-120"/>
              </a:rPr>
              <a:t>數據的更新和顯示</a:t>
            </a:r>
            <a:r>
              <a:rPr lang="zh-TW" altLang="en-US" dirty="0">
                <a:latin typeface="標楷體" panose="03000509000000000000" pitchFamily="65" charset="-120"/>
                <a:ea typeface="標楷體" panose="03000509000000000000" pitchFamily="65" charset="-120"/>
              </a:rPr>
              <a:t>。這些機制允許</a:t>
            </a:r>
            <a:r>
              <a:rPr lang="en-US" altLang="zh-TW" dirty="0">
                <a:latin typeface="標楷體" panose="03000509000000000000" pitchFamily="65" charset="-120"/>
                <a:ea typeface="標楷體" panose="03000509000000000000" pitchFamily="65" charset="-120"/>
              </a:rPr>
              <a:t>View</a:t>
            </a:r>
            <a:r>
              <a:rPr lang="zh-TW" altLang="en-US" dirty="0">
                <a:latin typeface="標楷體" panose="03000509000000000000" pitchFamily="65" charset="-120"/>
                <a:ea typeface="標楷體" panose="03000509000000000000" pitchFamily="65" charset="-120"/>
              </a:rPr>
              <a:t>註冊為</a:t>
            </a:r>
            <a:r>
              <a:rPr lang="en-US" altLang="zh-TW" dirty="0">
                <a:latin typeface="標楷體" panose="03000509000000000000" pitchFamily="65" charset="-120"/>
                <a:ea typeface="標楷體" panose="03000509000000000000" pitchFamily="65" charset="-120"/>
              </a:rPr>
              <a:t>Model</a:t>
            </a:r>
            <a:r>
              <a:rPr lang="zh-TW" altLang="en-US" dirty="0">
                <a:latin typeface="標楷體" panose="03000509000000000000" pitchFamily="65" charset="-120"/>
                <a:ea typeface="標楷體" panose="03000509000000000000" pitchFamily="65" charset="-120"/>
              </a:rPr>
              <a:t>的觀察者（或監聽器），當</a:t>
            </a:r>
            <a:r>
              <a:rPr lang="en-US" altLang="zh-TW" dirty="0">
                <a:latin typeface="標楷體" panose="03000509000000000000" pitchFamily="65" charset="-120"/>
                <a:ea typeface="標楷體" panose="03000509000000000000" pitchFamily="65" charset="-120"/>
              </a:rPr>
              <a:t>Model(</a:t>
            </a:r>
            <a:r>
              <a:rPr lang="zh-TW" altLang="en-US" dirty="0">
                <a:latin typeface="標楷體" panose="03000509000000000000" pitchFamily="65" charset="-120"/>
                <a:ea typeface="標楷體" panose="03000509000000000000" pitchFamily="65" charset="-120"/>
              </a:rPr>
              <a:t>被觀察對象</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的狀態發生變化時，</a:t>
            </a:r>
            <a:r>
              <a:rPr lang="en-US" altLang="zh-TW" dirty="0">
                <a:latin typeface="標楷體" panose="03000509000000000000" pitchFamily="65" charset="-120"/>
                <a:ea typeface="標楷體" panose="03000509000000000000" pitchFamily="65" charset="-120"/>
              </a:rPr>
              <a:t>View(</a:t>
            </a:r>
            <a:r>
              <a:rPr lang="zh-TW" altLang="en-US" dirty="0">
                <a:latin typeface="標楷體" panose="03000509000000000000" pitchFamily="65" charset="-120"/>
                <a:ea typeface="標楷體" panose="03000509000000000000" pitchFamily="65" charset="-120"/>
              </a:rPr>
              <a:t>觀察者</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可以接收通知，傳達給其他觀察者，然後相應地採取行動。</a:t>
            </a:r>
            <a:endParaRPr lang="en-US" altLang="zh-TW" dirty="0">
              <a:latin typeface="標楷體" panose="03000509000000000000" pitchFamily="65" charset="-120"/>
              <a:ea typeface="標楷體" panose="03000509000000000000" pitchFamily="65" charset="-120"/>
            </a:endParaRPr>
          </a:p>
          <a:p>
            <a:r>
              <a:rPr lang="zh-TW" altLang="en-US" dirty="0">
                <a:latin typeface="標楷體" panose="03000509000000000000" pitchFamily="65" charset="-120"/>
                <a:ea typeface="標楷體" panose="03000509000000000000" pitchFamily="65" charset="-120"/>
              </a:rPr>
              <a:t>一個</a:t>
            </a:r>
            <a:r>
              <a:rPr lang="zh-TW" altLang="en-US" dirty="0">
                <a:solidFill>
                  <a:srgbClr val="FF0000"/>
                </a:solidFill>
                <a:latin typeface="標楷體" panose="03000509000000000000" pitchFamily="65" charset="-120"/>
                <a:ea typeface="標楷體" panose="03000509000000000000" pitchFamily="65" charset="-120"/>
              </a:rPr>
              <a:t>被觀察對象</a:t>
            </a:r>
            <a:r>
              <a:rPr lang="zh-TW" altLang="en-US" dirty="0">
                <a:latin typeface="標楷體" panose="03000509000000000000" pitchFamily="65" charset="-120"/>
                <a:ea typeface="標楷體" panose="03000509000000000000" pitchFamily="65" charset="-120"/>
              </a:rPr>
              <a:t>通常可有</a:t>
            </a:r>
            <a:r>
              <a:rPr lang="zh-TW" altLang="en-US" dirty="0">
                <a:solidFill>
                  <a:srgbClr val="FF0000"/>
                </a:solidFill>
                <a:latin typeface="標楷體" panose="03000509000000000000" pitchFamily="65" charset="-120"/>
                <a:ea typeface="標楷體" panose="03000509000000000000" pitchFamily="65" charset="-120"/>
              </a:rPr>
              <a:t>複數觀察者</a:t>
            </a:r>
            <a:r>
              <a:rPr lang="zh-TW" altLang="en-US" dirty="0">
                <a:latin typeface="標楷體" panose="03000509000000000000" pitchFamily="65" charset="-120"/>
                <a:ea typeface="標楷體" panose="03000509000000000000" pitchFamily="65" charset="-120"/>
              </a:rPr>
              <a:t>，用於建立</a:t>
            </a:r>
            <a:r>
              <a:rPr lang="zh-TW" altLang="en-US" dirty="0">
                <a:solidFill>
                  <a:srgbClr val="FF0000"/>
                </a:solidFill>
                <a:latin typeface="標楷體" panose="03000509000000000000" pitchFamily="65" charset="-120"/>
                <a:ea typeface="標楷體" panose="03000509000000000000" pitchFamily="65" charset="-120"/>
              </a:rPr>
              <a:t>一對多的關係</a:t>
            </a:r>
            <a:r>
              <a:rPr lang="zh-TW" altLang="en-US" dirty="0">
                <a:latin typeface="標楷體" panose="03000509000000000000" pitchFamily="65" charset="-120"/>
                <a:ea typeface="標楷體" panose="03000509000000000000" pitchFamily="65" charset="-120"/>
              </a:rPr>
              <a:t>，其中一個被觀察對象（也稱為主題或主體）可以通知多個觀察者，當其內部狀態發生變化時。</a:t>
            </a:r>
            <a:endParaRPr lang="en-US" altLang="zh-TW" dirty="0">
              <a:latin typeface="標楷體" panose="03000509000000000000" pitchFamily="65" charset="-120"/>
              <a:ea typeface="標楷體" panose="03000509000000000000" pitchFamily="65" charset="-120"/>
            </a:endParaRPr>
          </a:p>
          <a:p>
            <a:endParaRPr lang="en-US" altLang="zh-TW" dirty="0">
              <a:latin typeface="標楷體" panose="03000509000000000000" pitchFamily="65" charset="-120"/>
              <a:ea typeface="標楷體" panose="03000509000000000000" pitchFamily="65" charset="-120"/>
            </a:endParaRPr>
          </a:p>
          <a:p>
            <a:r>
              <a:rPr lang="zh-TW" altLang="en-US" b="1" dirty="0">
                <a:latin typeface="標楷體" panose="03000509000000000000" pitchFamily="65" charset="-120"/>
                <a:ea typeface="標楷體" panose="03000509000000000000" pitchFamily="65" charset="-120"/>
              </a:rPr>
              <a:t>事件系統</a:t>
            </a:r>
            <a:r>
              <a:rPr lang="zh-TW" altLang="en-US" dirty="0">
                <a:latin typeface="標楷體" panose="03000509000000000000" pitchFamily="65" charset="-120"/>
                <a:ea typeface="標楷體" panose="03000509000000000000" pitchFamily="65" charset="-120"/>
              </a:rPr>
              <a:t>是一種更通用的概念，它允許不同部分（包括</a:t>
            </a:r>
            <a:r>
              <a:rPr lang="en-US" altLang="zh-TW" dirty="0">
                <a:latin typeface="標楷體" panose="03000509000000000000" pitchFamily="65" charset="-120"/>
                <a:ea typeface="標楷體" panose="03000509000000000000" pitchFamily="65" charset="-120"/>
              </a:rPr>
              <a:t>View</a:t>
            </a:r>
            <a:r>
              <a:rPr lang="zh-TW" altLang="en-US" dirty="0">
                <a:latin typeface="標楷體" panose="03000509000000000000" pitchFamily="65" charset="-120"/>
                <a:ea typeface="標楷體" panose="03000509000000000000" pitchFamily="65" charset="-120"/>
              </a:rPr>
              <a:t>和</a:t>
            </a:r>
            <a:r>
              <a:rPr lang="en-US" altLang="zh-TW" dirty="0">
                <a:latin typeface="標楷體" panose="03000509000000000000" pitchFamily="65" charset="-120"/>
                <a:ea typeface="標楷體" panose="03000509000000000000" pitchFamily="65" charset="-120"/>
              </a:rPr>
              <a:t>Model</a:t>
            </a:r>
            <a:r>
              <a:rPr lang="zh-TW" altLang="en-US" dirty="0">
                <a:latin typeface="標楷體" panose="03000509000000000000" pitchFamily="65" charset="-120"/>
                <a:ea typeface="標楷體" panose="03000509000000000000" pitchFamily="65" charset="-120"/>
              </a:rPr>
              <a:t>）之間的通信，而不僅僅是觀察者模式。事件系統通常包括事件的發布者（通常是</a:t>
            </a:r>
            <a:r>
              <a:rPr lang="en-US" altLang="zh-TW" dirty="0">
                <a:latin typeface="標楷體" panose="03000509000000000000" pitchFamily="65" charset="-120"/>
                <a:ea typeface="標楷體" panose="03000509000000000000" pitchFamily="65" charset="-120"/>
              </a:rPr>
              <a:t>Model</a:t>
            </a:r>
            <a:r>
              <a:rPr lang="zh-TW" altLang="en-US" dirty="0">
                <a:latin typeface="標楷體" panose="03000509000000000000" pitchFamily="65" charset="-120"/>
                <a:ea typeface="標楷體" panose="03000509000000000000" pitchFamily="65" charset="-120"/>
              </a:rPr>
              <a:t>）和事件的訂閱者（通常是</a:t>
            </a:r>
            <a:r>
              <a:rPr lang="en-US" altLang="zh-TW" dirty="0">
                <a:latin typeface="標楷體" panose="03000509000000000000" pitchFamily="65" charset="-120"/>
                <a:ea typeface="標楷體" panose="03000509000000000000" pitchFamily="65" charset="-120"/>
              </a:rPr>
              <a:t>View</a:t>
            </a:r>
            <a:r>
              <a:rPr lang="zh-TW" altLang="en-US" dirty="0">
                <a:latin typeface="標楷體" panose="03000509000000000000" pitchFamily="65" charset="-120"/>
                <a:ea typeface="標楷體" panose="03000509000000000000" pitchFamily="65" charset="-120"/>
              </a:rPr>
              <a:t>或</a:t>
            </a:r>
            <a:r>
              <a:rPr lang="en-US" altLang="zh-TW" dirty="0">
                <a:latin typeface="標楷體" panose="03000509000000000000" pitchFamily="65" charset="-120"/>
                <a:ea typeface="標楷體" panose="03000509000000000000" pitchFamily="65" charset="-120"/>
              </a:rPr>
              <a:t>Controller</a:t>
            </a:r>
            <a:r>
              <a:rPr lang="zh-TW" altLang="en-US" dirty="0">
                <a:latin typeface="標楷體" panose="03000509000000000000" pitchFamily="65" charset="-120"/>
                <a:ea typeface="標楷體" panose="03000509000000000000" pitchFamily="65" charset="-120"/>
              </a:rPr>
              <a:t>）。</a:t>
            </a:r>
            <a:r>
              <a:rPr lang="zh-TW" altLang="en-US" dirty="0">
                <a:solidFill>
                  <a:srgbClr val="FF0000"/>
                </a:solidFill>
                <a:latin typeface="標楷體" panose="03000509000000000000" pitchFamily="65" charset="-120"/>
                <a:ea typeface="標楷體" panose="03000509000000000000" pitchFamily="65" charset="-120"/>
              </a:rPr>
              <a:t>當事件發生時，發布者會通知訂閱者，然後訂閱者可以處理事件。</a:t>
            </a:r>
            <a:endParaRPr lang="en-US" altLang="zh-TW" dirty="0">
              <a:solidFill>
                <a:srgbClr val="FF0000"/>
              </a:solidFill>
              <a:latin typeface="標楷體" panose="03000509000000000000" pitchFamily="65" charset="-120"/>
              <a:ea typeface="標楷體" panose="03000509000000000000" pitchFamily="65" charset="-120"/>
            </a:endParaRPr>
          </a:p>
          <a:p>
            <a:pPr marL="0" indent="0">
              <a:buNone/>
            </a:pPr>
            <a:endParaRPr lang="en-US" altLang="zh-TW" dirty="0">
              <a:solidFill>
                <a:srgbClr val="FF0000"/>
              </a:solidFill>
              <a:latin typeface="標楷體" panose="03000509000000000000" pitchFamily="65" charset="-120"/>
              <a:ea typeface="標楷體" panose="03000509000000000000" pitchFamily="65" charset="-120"/>
            </a:endParaRPr>
          </a:p>
          <a:p>
            <a:r>
              <a:rPr lang="en-US" altLang="zh-TW" b="1" dirty="0">
                <a:solidFill>
                  <a:schemeClr val="bg2">
                    <a:lumMod val="75000"/>
                  </a:schemeClr>
                </a:solidFill>
              </a:rPr>
              <a:t>(</a:t>
            </a:r>
            <a:r>
              <a:rPr lang="zh-TW" altLang="en-US" b="1" dirty="0">
                <a:solidFill>
                  <a:schemeClr val="bg2">
                    <a:lumMod val="75000"/>
                  </a:schemeClr>
                </a:solidFill>
              </a:rPr>
              <a:t>觀察者模式和事件系統是相似但不完全相同的概念</a:t>
            </a:r>
            <a:r>
              <a:rPr lang="en-US" altLang="zh-TW" b="1" dirty="0">
                <a:solidFill>
                  <a:schemeClr val="bg2">
                    <a:lumMod val="75000"/>
                  </a:schemeClr>
                </a:solidFill>
              </a:rPr>
              <a:t>)</a:t>
            </a:r>
            <a:endParaRPr lang="zh-TW" altLang="en-US" b="1" dirty="0">
              <a:solidFill>
                <a:schemeClr val="bg2">
                  <a:lumMod val="75000"/>
                </a:schemeClr>
              </a:solidFill>
            </a:endParaRPr>
          </a:p>
          <a:p>
            <a:endParaRPr lang="zh-TW" altLang="en-US" dirty="0"/>
          </a:p>
        </p:txBody>
      </p:sp>
    </p:spTree>
    <p:extLst>
      <p:ext uri="{BB962C8B-B14F-4D97-AF65-F5344CB8AC3E}">
        <p14:creationId xmlns:p14="http://schemas.microsoft.com/office/powerpoint/2010/main" val="12588614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16948</TotalTime>
  <Words>1561</Words>
  <Application>Microsoft Office PowerPoint</Application>
  <PresentationFormat>寬螢幕</PresentationFormat>
  <Paragraphs>82</Paragraphs>
  <Slides>12</Slides>
  <Notes>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12</vt:i4>
      </vt:variant>
    </vt:vector>
  </HeadingPairs>
  <TitlesOfParts>
    <vt:vector size="18" baseType="lpstr">
      <vt:lpstr>新細明體</vt:lpstr>
      <vt:lpstr>標楷體</vt:lpstr>
      <vt:lpstr>Arial</vt:lpstr>
      <vt:lpstr>Calibri</vt:lpstr>
      <vt:lpstr>Calibri Light</vt:lpstr>
      <vt:lpstr>Office 佈景主題</vt:lpstr>
      <vt:lpstr>以MVC架構開發簡易線上購物網站</vt:lpstr>
      <vt:lpstr>3b:以MVC架構開發簡易線上購物網站</vt:lpstr>
      <vt:lpstr>3c:以MVC架構開發簡易線上購物網站</vt:lpstr>
      <vt:lpstr>PowerPoint 簡報</vt:lpstr>
      <vt:lpstr>什麼是 MVC？</vt:lpstr>
      <vt:lpstr>MVC架構中，Controller、Model和View之間是相互關聯的，並彼此合作達成目標。</vt:lpstr>
      <vt:lpstr>(續)</vt:lpstr>
      <vt:lpstr>PowerPoint 簡報</vt:lpstr>
      <vt:lpstr>PowerPoint 簡報</vt:lpstr>
      <vt:lpstr>PowerPoint 簡報</vt:lpstr>
      <vt:lpstr>(補充，之前的描述可能過於簡化了這個概念: Model不知道View或Controller的存在) </vt:lpstr>
      <vt:lpstr>(補充:提供觀察者模式或事件系統等機制)</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以MVC架構開發簡易線上購物網站</dc:title>
  <dc:creator>buddhist</dc:creator>
  <cp:lastModifiedBy>im j</cp:lastModifiedBy>
  <cp:revision>30</cp:revision>
  <dcterms:created xsi:type="dcterms:W3CDTF">2023-10-30T00:50:57Z</dcterms:created>
  <dcterms:modified xsi:type="dcterms:W3CDTF">2023-11-20T02:10:52Z</dcterms:modified>
</cp:coreProperties>
</file>